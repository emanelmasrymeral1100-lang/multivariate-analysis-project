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3" r:id="rId6"/>
    <p:sldId id="342" r:id="rId7"/>
    <p:sldId id="341" r:id="rId8"/>
    <p:sldId id="351" r:id="rId9"/>
    <p:sldId id="340" r:id="rId10"/>
    <p:sldId id="300" r:id="rId11"/>
    <p:sldId id="304" r:id="rId12"/>
    <p:sldId id="305" r:id="rId13"/>
    <p:sldId id="306" r:id="rId14"/>
    <p:sldId id="310" r:id="rId15"/>
    <p:sldId id="307" r:id="rId16"/>
    <p:sldId id="308" r:id="rId17"/>
    <p:sldId id="309" r:id="rId18"/>
    <p:sldId id="339" r:id="rId19"/>
    <p:sldId id="312" r:id="rId20"/>
    <p:sldId id="313" r:id="rId21"/>
    <p:sldId id="314" r:id="rId22"/>
    <p:sldId id="315" r:id="rId23"/>
    <p:sldId id="316" r:id="rId24"/>
    <p:sldId id="317" r:id="rId25"/>
    <p:sldId id="318" r:id="rId26"/>
    <p:sldId id="320" r:id="rId27"/>
    <p:sldId id="321" r:id="rId28"/>
    <p:sldId id="322" r:id="rId29"/>
    <p:sldId id="337" r:id="rId30"/>
    <p:sldId id="323" r:id="rId31"/>
    <p:sldId id="325" r:id="rId32"/>
    <p:sldId id="326" r:id="rId33"/>
    <p:sldId id="328" r:id="rId34"/>
    <p:sldId id="329" r:id="rId35"/>
    <p:sldId id="343" r:id="rId36"/>
    <p:sldId id="344" r:id="rId37"/>
    <p:sldId id="345" r:id="rId38"/>
    <p:sldId id="346" r:id="rId39"/>
    <p:sldId id="347" r:id="rId40"/>
    <p:sldId id="348" r:id="rId41"/>
    <p:sldId id="338" r:id="rId42"/>
    <p:sldId id="331" r:id="rId43"/>
    <p:sldId id="330" r:id="rId44"/>
    <p:sldId id="332" r:id="rId45"/>
    <p:sldId id="334" r:id="rId46"/>
    <p:sldId id="333" r:id="rId47"/>
    <p:sldId id="335" r:id="rId48"/>
    <p:sldId id="350" r:id="rId49"/>
    <p:sldId id="349" r:id="rId5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1" autoAdjust="0"/>
    <p:restoredTop sz="94619" autoAdjust="0"/>
  </p:normalViewPr>
  <p:slideViewPr>
    <p:cSldViewPr snapToGrid="0">
      <p:cViewPr varScale="1">
        <p:scale>
          <a:sx n="104" d="100"/>
          <a:sy n="104" d="100"/>
        </p:scale>
        <p:origin x="103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5/22/2026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5/22/2026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5/22/2026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5/22/2026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5/22/2026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5/22/2026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5/22/2026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5/22/2026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5/22/2026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5/22/2026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hemeOverride" Target="../theme/themeOverride9.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4.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themeOverride" Target="../theme/themeOverride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hemeOverride" Target="../theme/themeOverride1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hemeOverride" Target="../theme/themeOverride1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hemeOverride" Target="../theme/themeOverride1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hemeOverride" Target="../theme/themeOverride1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xml"/><Relationship Id="rId1" Type="http://schemas.openxmlformats.org/officeDocument/2006/relationships/themeOverride" Target="../theme/themeOverride1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hemeOverride" Target="../theme/themeOverride18.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hemeOverride" Target="../theme/themeOverride19.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hemeOverride" Target="../theme/themeOverr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4.xml"/><Relationship Id="rId1" Type="http://schemas.openxmlformats.org/officeDocument/2006/relationships/themeOverride" Target="../theme/themeOverride2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title"/>
          </p:nvPr>
        </p:nvSpPr>
        <p:spPr>
          <a:xfrm>
            <a:off x="643466" y="786383"/>
            <a:ext cx="3836170" cy="2093975"/>
          </a:xfrm>
        </p:spPr>
        <p:txBody>
          <a:bodyPr anchor="b">
            <a:normAutofit/>
          </a:bodyPr>
          <a:lstStyle/>
          <a:p>
            <a:r>
              <a:rPr lang="en-US" dirty="0"/>
              <a:t>Customer Satisfaction Survey Analysis</a:t>
            </a: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r="37018" b="-1"/>
          <a:stretch>
            <a:fillRect/>
          </a:stretch>
        </p:blipFill>
        <p:spPr>
          <a:xfrm>
            <a:off x="5458984" y="812799"/>
            <a:ext cx="5928344" cy="5294757"/>
          </a:xfrm>
          <a:prstGeom prst="rect">
            <a:avLst/>
          </a:prstGeom>
          <a:noFill/>
        </p:spPr>
      </p:pic>
      <p:sp>
        <p:nvSpPr>
          <p:cNvPr id="3" name="Subtitle 2">
            <a:extLst>
              <a:ext uri="{FF2B5EF4-FFF2-40B4-BE49-F238E27FC236}">
                <a16:creationId xmlns:a16="http://schemas.microsoft.com/office/drawing/2014/main" id="{255E1F2F-E259-4EA8-9FFD-3A10AF541859}"/>
              </a:ext>
            </a:extLst>
          </p:cNvPr>
          <p:cNvSpPr>
            <a:spLocks noGrp="1"/>
          </p:cNvSpPr>
          <p:nvPr>
            <p:ph type="body" sz="half" idx="2"/>
          </p:nvPr>
        </p:nvSpPr>
        <p:spPr>
          <a:xfrm>
            <a:off x="643465" y="3043050"/>
            <a:ext cx="3517567" cy="3064505"/>
          </a:xfrm>
        </p:spPr>
        <p:txBody>
          <a:bodyPr>
            <a:normAutofit lnSpcReduction="10000"/>
          </a:bodyPr>
          <a:lstStyle/>
          <a:p>
            <a:r>
              <a:rPr lang="en-US" dirty="0"/>
              <a:t>Hair, Anderson, and Tatham Company - (HATCO)</a:t>
            </a:r>
            <a:br>
              <a:rPr lang="en-US" dirty="0"/>
            </a:br>
            <a:br>
              <a:rPr lang="en-US" dirty="0"/>
            </a:br>
            <a:endParaRPr lang="en-US" dirty="0"/>
          </a:p>
          <a:p>
            <a:endParaRPr lang="en-US" dirty="0"/>
          </a:p>
          <a:p>
            <a:endParaRPr lang="en-US" dirty="0"/>
          </a:p>
          <a:p>
            <a:br>
              <a:rPr lang="en-US" dirty="0"/>
            </a:br>
            <a:r>
              <a:rPr lang="en-US" sz="1600" dirty="0"/>
              <a:t>DS555 - Applied Multivariate Statistics (Mini Project)</a:t>
            </a:r>
            <a:endParaRPr lang="en-US" dirty="0"/>
          </a:p>
        </p:txBody>
      </p:sp>
    </p:spTree>
    <p:extLst>
      <p:ext uri="{BB962C8B-B14F-4D97-AF65-F5344CB8AC3E}">
        <p14:creationId xmlns:p14="http://schemas.microsoft.com/office/powerpoint/2010/main" val="19314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D3D3-408D-4E33-66B6-C3BDAE86E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99023-3975-0F84-3D61-E7F7CBDCAE29}"/>
              </a:ext>
            </a:extLst>
          </p:cNvPr>
          <p:cNvSpPr>
            <a:spLocks noGrp="1"/>
          </p:cNvSpPr>
          <p:nvPr>
            <p:ph type="title"/>
          </p:nvPr>
        </p:nvSpPr>
        <p:spPr>
          <a:xfrm>
            <a:off x="1097280" y="286603"/>
            <a:ext cx="10058400" cy="1450757"/>
          </a:xfrm>
        </p:spPr>
        <p:txBody>
          <a:bodyPr anchor="b">
            <a:normAutofit fontScale="90000"/>
          </a:bodyPr>
          <a:lstStyle/>
          <a:p>
            <a:r>
              <a:rPr lang="en-US" dirty="0"/>
              <a:t>(HATCO) </a:t>
            </a:r>
            <a:br>
              <a:rPr lang="en-US" dirty="0"/>
            </a:br>
            <a:r>
              <a:rPr lang="en-US" sz="4400" dirty="0"/>
              <a:t>Customer Satisfaction Survey Analysis</a:t>
            </a:r>
          </a:p>
        </p:txBody>
      </p:sp>
      <p:pic>
        <p:nvPicPr>
          <p:cNvPr id="4" name="Picture 3" descr="A close up of a piece of paper with a pencil laying on top">
            <a:extLst>
              <a:ext uri="{FF2B5EF4-FFF2-40B4-BE49-F238E27FC236}">
                <a16:creationId xmlns:a16="http://schemas.microsoft.com/office/drawing/2014/main" id="{2AFA80AE-AA7C-8841-8924-F70DA23CB3CB}"/>
              </a:ext>
            </a:extLst>
          </p:cNvPr>
          <p:cNvPicPr>
            <a:picLocks noChangeAspect="1"/>
          </p:cNvPicPr>
          <p:nvPr/>
        </p:nvPicPr>
        <p:blipFill rotWithShape="1">
          <a:blip r:embed="rId3">
            <a:extLst>
              <a:ext uri="{28A0092B-C50C-407E-A947-70E740481C1C}">
                <a14:useLocalDpi xmlns:a14="http://schemas.microsoft.com/office/drawing/2010/main" val="0"/>
              </a:ext>
            </a:extLst>
          </a:blip>
          <a:srcRect r="30372" b="2"/>
          <a:stretch>
            <a:fillRect/>
          </a:stretch>
        </p:blipFill>
        <p:spPr>
          <a:xfrm>
            <a:off x="7977279" y="2665845"/>
            <a:ext cx="2919783" cy="2358736"/>
          </a:xfrm>
          <a:prstGeom prst="rect">
            <a:avLst/>
          </a:prstGeom>
          <a:noFill/>
        </p:spPr>
      </p:pic>
      <p:sp>
        <p:nvSpPr>
          <p:cNvPr id="3" name="Subtitle 2">
            <a:extLst>
              <a:ext uri="{FF2B5EF4-FFF2-40B4-BE49-F238E27FC236}">
                <a16:creationId xmlns:a16="http://schemas.microsoft.com/office/drawing/2014/main" id="{49B00925-1630-2FA8-61AF-AB9D5DF8CEBA}"/>
              </a:ext>
            </a:extLst>
          </p:cNvPr>
          <p:cNvSpPr>
            <a:spLocks noGrp="1"/>
          </p:cNvSpPr>
          <p:nvPr>
            <p:ph sz="half" idx="2"/>
          </p:nvPr>
        </p:nvSpPr>
        <p:spPr>
          <a:xfrm>
            <a:off x="1182256" y="2120900"/>
            <a:ext cx="4793672" cy="3748194"/>
          </a:xfrm>
        </p:spPr>
        <p:txBody>
          <a:bodyPr>
            <a:normAutofit/>
          </a:bodyPr>
          <a:lstStyle/>
          <a:p>
            <a:r>
              <a:rPr lang="en-US" dirty="0"/>
              <a:t>Team Members: (Group 10)</a:t>
            </a:r>
          </a:p>
          <a:p>
            <a:pPr marL="442913" indent="-265113">
              <a:buFont typeface="Wingdings" panose="05000000000000000000" pitchFamily="2" charset="2"/>
              <a:buChar char="§"/>
            </a:pPr>
            <a:r>
              <a:rPr lang="en-US" dirty="0"/>
              <a:t>202505911 - Ahmed Ezzat Mostafa </a:t>
            </a:r>
          </a:p>
          <a:p>
            <a:pPr marL="442913" indent="-265113">
              <a:buFont typeface="Wingdings" panose="05000000000000000000" pitchFamily="2" charset="2"/>
              <a:buChar char="§"/>
            </a:pPr>
            <a:r>
              <a:rPr lang="en-US" dirty="0"/>
              <a:t>202505931 - Taha Mohamed Taha</a:t>
            </a:r>
          </a:p>
          <a:p>
            <a:pPr marL="442913" indent="-265113">
              <a:buFont typeface="Wingdings" panose="05000000000000000000" pitchFamily="2" charset="2"/>
              <a:buChar char="§"/>
            </a:pPr>
            <a:r>
              <a:rPr lang="en-US" dirty="0"/>
              <a:t>202400064 - Eslam Kamel Morsi</a:t>
            </a:r>
          </a:p>
          <a:p>
            <a:pPr marL="442913" indent="-265113">
              <a:buFont typeface="Wingdings" panose="05000000000000000000" pitchFamily="2" charset="2"/>
              <a:buChar char="§"/>
            </a:pPr>
            <a:r>
              <a:rPr lang="en-US" dirty="0"/>
              <a:t>202400056 - Mahmoud Abdelaziz</a:t>
            </a:r>
          </a:p>
          <a:p>
            <a:pPr marL="442913" indent="-265113">
              <a:buFont typeface="Wingdings" panose="05000000000000000000" pitchFamily="2" charset="2"/>
              <a:buChar char="§"/>
            </a:pPr>
            <a:r>
              <a:rPr lang="en-US" dirty="0"/>
              <a:t>202505906 - Eman Masry </a:t>
            </a:r>
          </a:p>
        </p:txBody>
      </p:sp>
    </p:spTree>
    <p:extLst>
      <p:ext uri="{BB962C8B-B14F-4D97-AF65-F5344CB8AC3E}">
        <p14:creationId xmlns:p14="http://schemas.microsoft.com/office/powerpoint/2010/main" val="223408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2458-C952-E3EA-7D37-F8C33FA4B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A8FCE-FC9A-BA66-E8A3-CFDF82761875}"/>
              </a:ext>
            </a:extLst>
          </p:cNvPr>
          <p:cNvSpPr>
            <a:spLocks noGrp="1"/>
          </p:cNvSpPr>
          <p:nvPr>
            <p:ph type="title"/>
          </p:nvPr>
        </p:nvSpPr>
        <p:spPr>
          <a:xfrm>
            <a:off x="1097280" y="286603"/>
            <a:ext cx="10058400" cy="1450757"/>
          </a:xfrm>
        </p:spPr>
        <p:txBody>
          <a:bodyPr anchor="b">
            <a:normAutofit fontScale="90000"/>
          </a:bodyPr>
          <a:lstStyle/>
          <a:p>
            <a:r>
              <a:rPr lang="en-US" dirty="0"/>
              <a:t>(HATCO) </a:t>
            </a:r>
            <a:br>
              <a:rPr lang="en-US" dirty="0"/>
            </a:br>
            <a:r>
              <a:rPr lang="en-US" sz="4400" dirty="0"/>
              <a:t>Customer Satisfaction Survey Analysis</a:t>
            </a:r>
            <a:endParaRPr lang="en-US" dirty="0"/>
          </a:p>
        </p:txBody>
      </p:sp>
      <p:sp>
        <p:nvSpPr>
          <p:cNvPr id="3" name="Subtitle 2">
            <a:extLst>
              <a:ext uri="{FF2B5EF4-FFF2-40B4-BE49-F238E27FC236}">
                <a16:creationId xmlns:a16="http://schemas.microsoft.com/office/drawing/2014/main" id="{9CD172DF-5FAF-6837-65E0-F76F0F4B1E45}"/>
              </a:ext>
            </a:extLst>
          </p:cNvPr>
          <p:cNvSpPr>
            <a:spLocks noGrp="1"/>
          </p:cNvSpPr>
          <p:nvPr>
            <p:ph sz="half" idx="2"/>
          </p:nvPr>
        </p:nvSpPr>
        <p:spPr>
          <a:xfrm>
            <a:off x="1182256" y="2120900"/>
            <a:ext cx="4913744" cy="3748194"/>
          </a:xfrm>
        </p:spPr>
        <p:txBody>
          <a:bodyPr>
            <a:normAutofit fontScale="92500" lnSpcReduction="10000"/>
          </a:bodyPr>
          <a:lstStyle/>
          <a:p>
            <a:r>
              <a:rPr lang="en-US" dirty="0"/>
              <a:t>Team Contribution:</a:t>
            </a:r>
          </a:p>
          <a:p>
            <a:pPr marL="268288" lvl="0" indent="-268288">
              <a:buFont typeface="Wingdings" panose="05000000000000000000" pitchFamily="2" charset="2"/>
              <a:buChar char="§"/>
            </a:pPr>
            <a:r>
              <a:rPr lang="en-US" dirty="0"/>
              <a:t>Section (1): Introduction and Variables </a:t>
            </a:r>
            <a:br>
              <a:rPr lang="en-US" dirty="0"/>
            </a:br>
            <a:r>
              <a:rPr lang="en-US" dirty="0"/>
              <a:t>(Mahmoud Abdelaziz)</a:t>
            </a:r>
          </a:p>
          <a:p>
            <a:pPr marL="268288" lvl="0" indent="-268288">
              <a:buFont typeface="Wingdings" panose="05000000000000000000" pitchFamily="2" charset="2"/>
              <a:buChar char="§"/>
            </a:pPr>
            <a:r>
              <a:rPr lang="en-US" dirty="0"/>
              <a:t>Section (2): Data Visualization and </a:t>
            </a:r>
            <a:br>
              <a:rPr lang="en-US" dirty="0"/>
            </a:br>
            <a:r>
              <a:rPr lang="en-US" dirty="0"/>
              <a:t>Descriptive Measures</a:t>
            </a:r>
            <a:br>
              <a:rPr lang="en-US" dirty="0"/>
            </a:br>
            <a:r>
              <a:rPr lang="en-US" dirty="0"/>
              <a:t>(Taha Mohamed Taha)</a:t>
            </a:r>
          </a:p>
          <a:p>
            <a:pPr marL="268288" indent="-268288">
              <a:buFont typeface="Wingdings" panose="05000000000000000000" pitchFamily="2" charset="2"/>
              <a:buChar char="§"/>
            </a:pPr>
            <a:r>
              <a:rPr lang="en-US" dirty="0"/>
              <a:t>Python Coding</a:t>
            </a:r>
            <a:br>
              <a:rPr lang="en-US" dirty="0"/>
            </a:br>
            <a:r>
              <a:rPr lang="en-US" dirty="0"/>
              <a:t>(Ahmed Ezzat Mostafa, Eslam Kamel Morsi)</a:t>
            </a:r>
          </a:p>
          <a:p>
            <a:pPr marL="268288" indent="-268288">
              <a:buFont typeface="Wingdings" panose="05000000000000000000" pitchFamily="2" charset="2"/>
              <a:buChar char="§"/>
            </a:pPr>
            <a:r>
              <a:rPr lang="en-US" dirty="0"/>
              <a:t>Documenting &amp; Presentation </a:t>
            </a:r>
            <a:br>
              <a:rPr lang="en-US" dirty="0"/>
            </a:br>
            <a:r>
              <a:rPr lang="en-US" dirty="0"/>
              <a:t>(Eslam Kamel Morsi, Taha Mohamed Taha)</a:t>
            </a:r>
          </a:p>
        </p:txBody>
      </p:sp>
      <p:sp>
        <p:nvSpPr>
          <p:cNvPr id="5" name="Subtitle 2">
            <a:extLst>
              <a:ext uri="{FF2B5EF4-FFF2-40B4-BE49-F238E27FC236}">
                <a16:creationId xmlns:a16="http://schemas.microsoft.com/office/drawing/2014/main" id="{43652E64-B0FA-83E7-94B5-CFEAEFCCFCE2}"/>
              </a:ext>
            </a:extLst>
          </p:cNvPr>
          <p:cNvSpPr txBox="1">
            <a:spLocks/>
          </p:cNvSpPr>
          <p:nvPr/>
        </p:nvSpPr>
        <p:spPr>
          <a:xfrm>
            <a:off x="6126480" y="2120900"/>
            <a:ext cx="4913744" cy="3748194"/>
          </a:xfrm>
          <a:prstGeom prst="rect">
            <a:avLst/>
          </a:prstGeom>
        </p:spPr>
        <p:txBody>
          <a:bodyPr vert="horz" lIns="0" tIns="45720" rIns="0" bIns="45720" rtlCol="0">
            <a:normAutofit fontScale="92500" lnSpcReduction="10000"/>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 </a:t>
            </a:r>
          </a:p>
          <a:p>
            <a:pPr marL="268288" indent="-268288">
              <a:buFont typeface="Wingdings" panose="05000000000000000000" pitchFamily="2" charset="2"/>
              <a:buChar char="§"/>
            </a:pPr>
            <a:r>
              <a:rPr lang="en-US" dirty="0"/>
              <a:t>Section (3): Assumption validation </a:t>
            </a:r>
            <a:br>
              <a:rPr lang="en-US" dirty="0"/>
            </a:br>
            <a:r>
              <a:rPr lang="en-US" dirty="0"/>
              <a:t>(Normality, Homogeneity) </a:t>
            </a:r>
            <a:br>
              <a:rPr lang="en-US" dirty="0"/>
            </a:br>
            <a:r>
              <a:rPr lang="en-US" dirty="0"/>
              <a:t>(Mahmoud Abdelaziz, Ahmed Ezzat Mostafa)</a:t>
            </a:r>
          </a:p>
          <a:p>
            <a:pPr marL="268288" indent="-268288">
              <a:buFont typeface="Wingdings" panose="05000000000000000000" pitchFamily="2" charset="2"/>
              <a:buChar char="§"/>
            </a:pPr>
            <a:r>
              <a:rPr lang="en-US" dirty="0"/>
              <a:t>Section (3): ANOVA Model</a:t>
            </a:r>
            <a:br>
              <a:rPr lang="en-US" dirty="0"/>
            </a:br>
            <a:r>
              <a:rPr lang="en-US" dirty="0"/>
              <a:t>(Ahmed Ezzat Mostafa, Eman Masry)</a:t>
            </a:r>
          </a:p>
          <a:p>
            <a:pPr marL="268288" indent="-268288">
              <a:buFont typeface="Wingdings" panose="05000000000000000000" pitchFamily="2" charset="2"/>
              <a:buChar char="§"/>
            </a:pPr>
            <a:r>
              <a:rPr lang="en-US" dirty="0"/>
              <a:t>Section (3): ANCOVA Model</a:t>
            </a:r>
            <a:br>
              <a:rPr lang="en-US" dirty="0"/>
            </a:br>
            <a:r>
              <a:rPr lang="en-US" dirty="0"/>
              <a:t>(Eman Masry, </a:t>
            </a:r>
            <a:r>
              <a:rPr kumimoji="0" lang="en-US" sz="1800" b="0" i="0" u="none" strike="noStrike" kern="1200" cap="none" spc="0" normalizeH="0" baseline="0" noProof="0" dirty="0">
                <a:ln>
                  <a:noFill/>
                </a:ln>
                <a:solidFill>
                  <a:prstClr val="black"/>
                </a:solidFill>
                <a:effectLst/>
                <a:uLnTx/>
                <a:uFillTx/>
                <a:latin typeface="Franklin Gothic Book" panose="020F0502020204030204"/>
                <a:ea typeface="+mn-ea"/>
                <a:cs typeface="+mn-cs"/>
              </a:rPr>
              <a:t>Mahmoud Abdelaziz</a:t>
            </a:r>
            <a:r>
              <a:rPr lang="en-US" dirty="0"/>
              <a:t>)</a:t>
            </a:r>
          </a:p>
          <a:p>
            <a:pPr marL="268288" indent="-268288">
              <a:buFont typeface="Wingdings" panose="05000000000000000000" pitchFamily="2" charset="2"/>
              <a:buChar char="§"/>
            </a:pPr>
            <a:r>
              <a:rPr lang="en-US" dirty="0"/>
              <a:t>Section (3): MANOVA </a:t>
            </a:r>
            <a:br>
              <a:rPr lang="en-US" dirty="0"/>
            </a:br>
            <a:r>
              <a:rPr lang="en-US" dirty="0"/>
              <a:t>(Eslam Kamel Morsi, Taha Mohamed Taha)</a:t>
            </a:r>
          </a:p>
        </p:txBody>
      </p:sp>
    </p:spTree>
    <p:extLst>
      <p:ext uri="{BB962C8B-B14F-4D97-AF65-F5344CB8AC3E}">
        <p14:creationId xmlns:p14="http://schemas.microsoft.com/office/powerpoint/2010/main" val="210273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BDB64-0C54-359E-61A7-59A2B9C06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2DD65-BC93-13CB-2DC8-D41C21F10933}"/>
              </a:ext>
            </a:extLst>
          </p:cNvPr>
          <p:cNvSpPr>
            <a:spLocks noGrp="1"/>
          </p:cNvSpPr>
          <p:nvPr>
            <p:ph type="title"/>
          </p:nvPr>
        </p:nvSpPr>
        <p:spPr>
          <a:xfrm>
            <a:off x="1097280" y="286603"/>
            <a:ext cx="10058400" cy="1450757"/>
          </a:xfrm>
        </p:spPr>
        <p:txBody>
          <a:bodyPr anchor="b">
            <a:normAutofit fontScale="90000"/>
          </a:bodyPr>
          <a:lstStyle/>
          <a:p>
            <a:r>
              <a:rPr lang="en-US" dirty="0"/>
              <a:t>(HATCO) </a:t>
            </a:r>
            <a:br>
              <a:rPr lang="en-US" dirty="0"/>
            </a:br>
            <a:r>
              <a:rPr lang="en-US" sz="4400" dirty="0"/>
              <a:t>Customer Satisfaction Survey Analysis</a:t>
            </a:r>
            <a:endParaRPr lang="en-US" dirty="0"/>
          </a:p>
        </p:txBody>
      </p:sp>
      <p:pic>
        <p:nvPicPr>
          <p:cNvPr id="4" name="Picture 3" descr="A close up of a piece of paper with a pencil laying on top">
            <a:extLst>
              <a:ext uri="{FF2B5EF4-FFF2-40B4-BE49-F238E27FC236}">
                <a16:creationId xmlns:a16="http://schemas.microsoft.com/office/drawing/2014/main" id="{16DB01B1-EC6C-B66C-FD19-E2C71E5248D4}"/>
              </a:ext>
            </a:extLst>
          </p:cNvPr>
          <p:cNvPicPr>
            <a:picLocks noChangeAspect="1"/>
          </p:cNvPicPr>
          <p:nvPr/>
        </p:nvPicPr>
        <p:blipFill rotWithShape="1">
          <a:blip r:embed="rId2">
            <a:extLst>
              <a:ext uri="{28A0092B-C50C-407E-A947-70E740481C1C}">
                <a14:useLocalDpi xmlns:a14="http://schemas.microsoft.com/office/drawing/2010/main" val="0"/>
              </a:ext>
            </a:extLst>
          </a:blip>
          <a:srcRect r="30372" b="2"/>
          <a:stretch>
            <a:fillRect/>
          </a:stretch>
        </p:blipFill>
        <p:spPr>
          <a:xfrm>
            <a:off x="1097280" y="2120900"/>
            <a:ext cx="4639736" cy="3748193"/>
          </a:xfrm>
          <a:prstGeom prst="rect">
            <a:avLst/>
          </a:prstGeom>
          <a:noFill/>
        </p:spPr>
      </p:pic>
      <p:sp>
        <p:nvSpPr>
          <p:cNvPr id="3" name="Subtitle 2">
            <a:extLst>
              <a:ext uri="{FF2B5EF4-FFF2-40B4-BE49-F238E27FC236}">
                <a16:creationId xmlns:a16="http://schemas.microsoft.com/office/drawing/2014/main" id="{0CE61832-24CD-1C2E-BEFA-A90F44762F6B}"/>
              </a:ext>
            </a:extLst>
          </p:cNvPr>
          <p:cNvSpPr>
            <a:spLocks noGrp="1"/>
          </p:cNvSpPr>
          <p:nvPr>
            <p:ph sz="half" idx="2"/>
          </p:nvPr>
        </p:nvSpPr>
        <p:spPr>
          <a:xfrm>
            <a:off x="6515944" y="2120900"/>
            <a:ext cx="4639736" cy="3748194"/>
          </a:xfrm>
        </p:spPr>
        <p:txBody>
          <a:bodyPr>
            <a:normAutofit fontScale="92500" lnSpcReduction="10000"/>
          </a:bodyPr>
          <a:lstStyle/>
          <a:p>
            <a:r>
              <a:rPr lang="en-US" b="1" dirty="0"/>
              <a:t>DS555 - Applied Multivariate Statistics </a:t>
            </a:r>
            <a:br>
              <a:rPr lang="en-US" b="1" dirty="0"/>
            </a:br>
            <a:r>
              <a:rPr lang="en-US" b="1" dirty="0"/>
              <a:t>(Mini Project)</a:t>
            </a:r>
            <a:br>
              <a:rPr lang="en-US" dirty="0"/>
            </a:br>
            <a:br>
              <a:rPr lang="en-US" dirty="0"/>
            </a:br>
            <a:r>
              <a:rPr lang="en-US" dirty="0"/>
              <a:t>Section (1): </a:t>
            </a:r>
            <a:br>
              <a:rPr lang="en-US" dirty="0"/>
            </a:br>
            <a:r>
              <a:rPr lang="en-US" dirty="0"/>
              <a:t>Introduction and Variables</a:t>
            </a:r>
          </a:p>
          <a:p>
            <a:r>
              <a:rPr lang="en-US" dirty="0"/>
              <a:t>Section (2): </a:t>
            </a:r>
            <a:br>
              <a:rPr lang="en-US" dirty="0"/>
            </a:br>
            <a:r>
              <a:rPr lang="en-US" dirty="0"/>
              <a:t>Data Visualization and Descriptive Measures</a:t>
            </a:r>
            <a:br>
              <a:rPr lang="en-US" dirty="0"/>
            </a:br>
            <a:br>
              <a:rPr lang="en-US" dirty="0"/>
            </a:br>
            <a:r>
              <a:rPr lang="en-US" dirty="0"/>
              <a:t>Section (3): </a:t>
            </a:r>
            <a:br>
              <a:rPr lang="en-US" dirty="0"/>
            </a:br>
            <a:r>
              <a:rPr lang="en-US" dirty="0"/>
              <a:t>Modeling and in-depth Analysis</a:t>
            </a:r>
          </a:p>
          <a:p>
            <a:pPr marL="201168" lvl="1" indent="0">
              <a:buNone/>
            </a:pPr>
            <a:r>
              <a:rPr lang="en-US" dirty="0"/>
              <a:t>One-Way ANOVA </a:t>
            </a:r>
            <a:br>
              <a:rPr lang="en-US" dirty="0"/>
            </a:br>
            <a:r>
              <a:rPr lang="en-US" dirty="0"/>
              <a:t>One-Way ANCOVA </a:t>
            </a:r>
            <a:br>
              <a:rPr lang="en-US" dirty="0"/>
            </a:br>
            <a:r>
              <a:rPr lang="en-US" dirty="0"/>
              <a:t>One-Way MANOVA</a:t>
            </a:r>
          </a:p>
        </p:txBody>
      </p:sp>
    </p:spTree>
    <p:extLst>
      <p:ext uri="{BB962C8B-B14F-4D97-AF65-F5344CB8AC3E}">
        <p14:creationId xmlns:p14="http://schemas.microsoft.com/office/powerpoint/2010/main" val="2803571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9D7A-8926-A15A-7534-7D18FB430853}"/>
              </a:ext>
            </a:extLst>
          </p:cNvPr>
          <p:cNvSpPr>
            <a:spLocks noGrp="1"/>
          </p:cNvSpPr>
          <p:nvPr>
            <p:ph type="title"/>
          </p:nvPr>
        </p:nvSpPr>
        <p:spPr/>
        <p:txBody>
          <a:bodyPr>
            <a:normAutofit fontScale="90000"/>
          </a:bodyPr>
          <a:lstStyle/>
          <a:p>
            <a:r>
              <a:rPr lang="en-US" dirty="0"/>
              <a:t>(HATCO) </a:t>
            </a:r>
            <a:br>
              <a:rPr lang="en-US" dirty="0"/>
            </a:br>
            <a:r>
              <a:rPr lang="en-US" sz="4400" dirty="0"/>
              <a:t>Customer Satisfaction Survey Analysis</a:t>
            </a:r>
            <a:endParaRPr lang="en-US" dirty="0"/>
          </a:p>
        </p:txBody>
      </p:sp>
      <p:sp>
        <p:nvSpPr>
          <p:cNvPr id="3" name="Content Placeholder 2">
            <a:extLst>
              <a:ext uri="{FF2B5EF4-FFF2-40B4-BE49-F238E27FC236}">
                <a16:creationId xmlns:a16="http://schemas.microsoft.com/office/drawing/2014/main" id="{E0404EAF-E8B9-100C-95C9-82407BFD048A}"/>
              </a:ext>
            </a:extLst>
          </p:cNvPr>
          <p:cNvSpPr>
            <a:spLocks noGrp="1"/>
          </p:cNvSpPr>
          <p:nvPr>
            <p:ph sz="half" idx="1"/>
          </p:nvPr>
        </p:nvSpPr>
        <p:spPr>
          <a:xfrm>
            <a:off x="1097280" y="2120900"/>
            <a:ext cx="10058400" cy="3748193"/>
          </a:xfrm>
        </p:spPr>
        <p:txBody>
          <a:bodyPr/>
          <a:lstStyle/>
          <a:p>
            <a:pPr marL="352425" indent="0">
              <a:buNone/>
            </a:pPr>
            <a:r>
              <a:rPr lang="en-US" b="1" dirty="0">
                <a:solidFill>
                  <a:schemeClr val="accent1">
                    <a:lumMod val="75000"/>
                  </a:schemeClr>
                </a:solidFill>
              </a:rPr>
              <a:t>Sales and Customer Satisfaction Questions:</a:t>
            </a:r>
          </a:p>
          <a:p>
            <a:pPr marL="695325" indent="-342900">
              <a:buFont typeface="Wingdings" panose="05000000000000000000" pitchFamily="2" charset="2"/>
              <a:buChar char="§"/>
            </a:pPr>
            <a:r>
              <a:rPr lang="en-US" dirty="0"/>
              <a:t>Does Price Level significantly affected by Firm Size? </a:t>
            </a:r>
            <a:br>
              <a:rPr lang="en-US" dirty="0"/>
            </a:br>
            <a:r>
              <a:rPr lang="en-US" dirty="0"/>
              <a:t>(Price Perception vs. Firm Size) – segmentation</a:t>
            </a:r>
          </a:p>
          <a:p>
            <a:pPr marL="695325" indent="-342900">
              <a:buFont typeface="Wingdings" panose="05000000000000000000" pitchFamily="2" charset="2"/>
              <a:buChar char="§"/>
            </a:pPr>
            <a:r>
              <a:rPr lang="en-US" dirty="0"/>
              <a:t>Does Price Level significantly affected by Firm Size when weighted Usage Level?</a:t>
            </a:r>
            <a:br>
              <a:rPr lang="en-US" dirty="0"/>
            </a:br>
            <a:r>
              <a:rPr lang="en-US" dirty="0"/>
              <a:t>(Price Perception vs. Firm Size) – segmentation with volume control (Purchase Amount)</a:t>
            </a:r>
          </a:p>
          <a:p>
            <a:pPr marL="695325" indent="-342900">
              <a:buFont typeface="Wingdings" panose="05000000000000000000" pitchFamily="2" charset="2"/>
              <a:buChar char="§"/>
            </a:pPr>
            <a:r>
              <a:rPr lang="en-US" dirty="0"/>
              <a:t>Do Salesforce Image and Manufacturer Image combined significantly </a:t>
            </a:r>
            <a:br>
              <a:rPr lang="en-US" dirty="0"/>
            </a:br>
            <a:r>
              <a:rPr lang="en-US" dirty="0"/>
              <a:t>affected by Buying Situation?</a:t>
            </a:r>
            <a:br>
              <a:rPr lang="en-US" dirty="0"/>
            </a:br>
            <a:r>
              <a:rPr lang="en-US" dirty="0"/>
              <a:t>(Buying Transaction vs. Image Perceptions) - Stability</a:t>
            </a:r>
          </a:p>
        </p:txBody>
      </p:sp>
    </p:spTree>
    <p:extLst>
      <p:ext uri="{BB962C8B-B14F-4D97-AF65-F5344CB8AC3E}">
        <p14:creationId xmlns:p14="http://schemas.microsoft.com/office/powerpoint/2010/main" val="1130204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578-55FF-A4F7-9E08-59F05E9787CC}"/>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FCE6D34-EAFC-0D29-C810-0D971E22A902}"/>
              </a:ext>
            </a:extLst>
          </p:cNvPr>
          <p:cNvSpPr>
            <a:spLocks noGrp="1"/>
          </p:cNvSpPr>
          <p:nvPr>
            <p:ph type="pic" idx="1"/>
          </p:nvPr>
        </p:nvSpPr>
        <p:spPr/>
      </p:sp>
      <p:sp>
        <p:nvSpPr>
          <p:cNvPr id="3" name="Title 2">
            <a:extLst>
              <a:ext uri="{FF2B5EF4-FFF2-40B4-BE49-F238E27FC236}">
                <a16:creationId xmlns:a16="http://schemas.microsoft.com/office/drawing/2014/main" id="{5A40FC72-8454-6F3D-FDB0-3F8D937ED257}"/>
              </a:ext>
            </a:extLst>
          </p:cNvPr>
          <p:cNvSpPr>
            <a:spLocks noGrp="1"/>
          </p:cNvSpPr>
          <p:nvPr>
            <p:ph type="title"/>
          </p:nvPr>
        </p:nvSpPr>
        <p:spPr>
          <a:xfrm>
            <a:off x="1097279" y="868217"/>
            <a:ext cx="10113645" cy="1996280"/>
          </a:xfrm>
        </p:spPr>
        <p:txBody>
          <a:bodyPr/>
          <a:lstStyle/>
          <a:p>
            <a:r>
              <a:rPr lang="en-US" sz="4000" dirty="0">
                <a:solidFill>
                  <a:schemeClr val="tx1"/>
                </a:solidFill>
              </a:rPr>
              <a:t>Section (1): </a:t>
            </a:r>
            <a:br>
              <a:rPr lang="en-US" sz="4000" dirty="0">
                <a:solidFill>
                  <a:schemeClr val="tx1"/>
                </a:solidFill>
              </a:rPr>
            </a:br>
            <a:r>
              <a:rPr lang="en-US" sz="4000" dirty="0">
                <a:solidFill>
                  <a:schemeClr val="tx1"/>
                </a:solidFill>
              </a:rPr>
              <a:t>Introduction and Variables</a:t>
            </a:r>
          </a:p>
        </p:txBody>
      </p:sp>
      <p:sp>
        <p:nvSpPr>
          <p:cNvPr id="4" name="Text Placeholder 3">
            <a:extLst>
              <a:ext uri="{FF2B5EF4-FFF2-40B4-BE49-F238E27FC236}">
                <a16:creationId xmlns:a16="http://schemas.microsoft.com/office/drawing/2014/main" id="{D770677E-BBDB-6B79-F5F3-CE679AB3A93C}"/>
              </a:ext>
            </a:extLst>
          </p:cNvPr>
          <p:cNvSpPr>
            <a:spLocks noGrp="1"/>
          </p:cNvSpPr>
          <p:nvPr>
            <p:ph type="body" sz="half" idx="2"/>
          </p:nvPr>
        </p:nvSpPr>
        <p:spPr>
          <a:xfrm>
            <a:off x="1097279" y="4920677"/>
            <a:ext cx="10113264" cy="609600"/>
          </a:xfrm>
        </p:spPr>
        <p:txBody>
          <a:bodyPr>
            <a:normAutofit/>
          </a:bodyPr>
          <a:lstStyle/>
          <a:p>
            <a:pPr algn="ctr"/>
            <a:endParaRPr lang="en-US" sz="2800" b="1" dirty="0">
              <a:solidFill>
                <a:schemeClr val="accent3">
                  <a:lumMod val="75000"/>
                </a:schemeClr>
              </a:solidFill>
              <a:latin typeface="+mj-lt"/>
            </a:endParaRPr>
          </a:p>
        </p:txBody>
      </p:sp>
    </p:spTree>
    <p:extLst>
      <p:ext uri="{BB962C8B-B14F-4D97-AF65-F5344CB8AC3E}">
        <p14:creationId xmlns:p14="http://schemas.microsoft.com/office/powerpoint/2010/main" val="4177514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Section (1): </a:t>
            </a:r>
            <a:br>
              <a:rPr lang="en-US" dirty="0"/>
            </a:br>
            <a:r>
              <a:rPr lang="en-US" dirty="0"/>
              <a:t>Introduction and Variables</a:t>
            </a:r>
          </a:p>
        </p:txBody>
      </p:sp>
      <p:pic>
        <p:nvPicPr>
          <p:cNvPr id="7" name="Content Placeholder 6">
            <a:extLst>
              <a:ext uri="{FF2B5EF4-FFF2-40B4-BE49-F238E27FC236}">
                <a16:creationId xmlns:a16="http://schemas.microsoft.com/office/drawing/2014/main" id="{D10A4323-0CC2-DCE1-F43F-04E090AC2155}"/>
              </a:ext>
            </a:extLst>
          </p:cNvPr>
          <p:cNvPicPr>
            <a:picLocks noGrp="1" noChangeAspect="1"/>
          </p:cNvPicPr>
          <p:nvPr>
            <p:ph idx="1"/>
          </p:nvPr>
        </p:nvPicPr>
        <p:blipFill>
          <a:blip r:embed="rId3"/>
          <a:stretch>
            <a:fillRect/>
          </a:stretch>
        </p:blipFill>
        <p:spPr>
          <a:xfrm>
            <a:off x="2814777" y="2108200"/>
            <a:ext cx="6622771" cy="3760788"/>
          </a:xfrm>
          <a:prstGeom prst="rect">
            <a:avLst/>
          </a:prstGeom>
        </p:spPr>
      </p:pic>
    </p:spTree>
    <p:extLst>
      <p:ext uri="{BB962C8B-B14F-4D97-AF65-F5344CB8AC3E}">
        <p14:creationId xmlns:p14="http://schemas.microsoft.com/office/powerpoint/2010/main" val="2933514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3587B7-ECEC-2D8B-B82C-0C1E199BD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B0243-1AE8-0B41-5693-C5A373595807}"/>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Section (1): </a:t>
            </a:r>
            <a:br>
              <a:rPr lang="en-US" dirty="0"/>
            </a:br>
            <a:r>
              <a:rPr lang="en-US" dirty="0"/>
              <a:t>Introduction and Variables</a:t>
            </a:r>
          </a:p>
        </p:txBody>
      </p:sp>
      <p:graphicFrame>
        <p:nvGraphicFramePr>
          <p:cNvPr id="5" name="Content Placeholder 4">
            <a:extLst>
              <a:ext uri="{FF2B5EF4-FFF2-40B4-BE49-F238E27FC236}">
                <a16:creationId xmlns:a16="http://schemas.microsoft.com/office/drawing/2014/main" id="{2E23CD64-5739-7F59-7072-32700E65EC83}"/>
              </a:ext>
            </a:extLst>
          </p:cNvPr>
          <p:cNvGraphicFramePr>
            <a:graphicFrameLocks noGrp="1"/>
          </p:cNvGraphicFramePr>
          <p:nvPr>
            <p:ph idx="1"/>
            <p:extLst>
              <p:ext uri="{D42A27DB-BD31-4B8C-83A1-F6EECF244321}">
                <p14:modId xmlns:p14="http://schemas.microsoft.com/office/powerpoint/2010/main" val="272846791"/>
              </p:ext>
            </p:extLst>
          </p:nvPr>
        </p:nvGraphicFramePr>
        <p:xfrm>
          <a:off x="1096963" y="2108200"/>
          <a:ext cx="10058400" cy="361657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655281091"/>
                    </a:ext>
                  </a:extLst>
                </a:gridCol>
                <a:gridCol w="3195039">
                  <a:extLst>
                    <a:ext uri="{9D8B030D-6E8A-4147-A177-3AD203B41FA5}">
                      <a16:colId xmlns:a16="http://schemas.microsoft.com/office/drawing/2014/main" val="3677697105"/>
                    </a:ext>
                  </a:extLst>
                </a:gridCol>
                <a:gridCol w="2079812">
                  <a:extLst>
                    <a:ext uri="{9D8B030D-6E8A-4147-A177-3AD203B41FA5}">
                      <a16:colId xmlns:a16="http://schemas.microsoft.com/office/drawing/2014/main" val="476733379"/>
                    </a:ext>
                  </a:extLst>
                </a:gridCol>
                <a:gridCol w="2680447">
                  <a:extLst>
                    <a:ext uri="{9D8B030D-6E8A-4147-A177-3AD203B41FA5}">
                      <a16:colId xmlns:a16="http://schemas.microsoft.com/office/drawing/2014/main" val="707175453"/>
                    </a:ext>
                  </a:extLst>
                </a:gridCol>
                <a:gridCol w="1894822">
                  <a:extLst>
                    <a:ext uri="{9D8B030D-6E8A-4147-A177-3AD203B41FA5}">
                      <a16:colId xmlns:a16="http://schemas.microsoft.com/office/drawing/2014/main" val="3386724861"/>
                    </a:ext>
                  </a:extLst>
                </a:gridCol>
              </a:tblGrid>
              <a:tr h="370840">
                <a:tc gridSpan="5">
                  <a:txBody>
                    <a:bodyPr/>
                    <a:lstStyle/>
                    <a:p>
                      <a:r>
                        <a:rPr lang="en-US" dirty="0"/>
                        <a:t>HATCO Customer Satisfaction Study </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44900121"/>
                  </a:ext>
                </a:extLst>
              </a:tr>
              <a:tr h="370840">
                <a:tc>
                  <a:txBody>
                    <a:bodyPr/>
                    <a:lstStyle/>
                    <a:p>
                      <a:pPr algn="ct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Name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Role in Study</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Type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Level of Measurement</a:t>
                      </a:r>
                      <a:endParaRPr lang="en-US" dirty="0"/>
                    </a:p>
                  </a:txBody>
                  <a:tcPr>
                    <a:solidFill>
                      <a:schemeClr val="accent3"/>
                    </a:solidFill>
                  </a:tcPr>
                </a:tc>
                <a:extLst>
                  <a:ext uri="{0D108BD9-81ED-4DB2-BD59-A6C34878D82A}">
                    <a16:rowId xmlns:a16="http://schemas.microsoft.com/office/drawing/2014/main" val="962675635"/>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X1  Delivery speed</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marL="68580" marR="68580" marT="0" marB="0" anchor="ct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dirty="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573933839"/>
                  </a:ext>
                </a:extLst>
              </a:tr>
              <a:tr h="370840">
                <a:tc>
                  <a:txBody>
                    <a:bodyPr/>
                    <a:lstStyle/>
                    <a:p>
                      <a:pPr algn="ctr"/>
                      <a:endParaRPr lang="en-US" dirty="0"/>
                    </a:p>
                  </a:txBody>
                  <a:tcPr/>
                </a:tc>
                <a:tc>
                  <a:txBody>
                    <a:bodyPr/>
                    <a:lstStyle/>
                    <a:p>
                      <a:pPr marL="0" algn="l" defTabSz="914400" rtl="0" eaLnBrk="1" latinLnBrk="0" hangingPunct="1">
                        <a:buNone/>
                      </a:pPr>
                      <a:r>
                        <a:rPr lang="en-US" sz="1800" b="1" kern="1200" dirty="0">
                          <a:solidFill>
                            <a:schemeClr val="accent1">
                              <a:lumMod val="75000"/>
                            </a:schemeClr>
                          </a:solidFill>
                          <a:latin typeface="+mn-lt"/>
                          <a:ea typeface="+mn-ea"/>
                          <a:cs typeface="+mn-cs"/>
                        </a:rPr>
                        <a:t>X2  Price level</a:t>
                      </a:r>
                    </a:p>
                  </a:txBody>
                  <a:tcPr marL="68580" marR="68580" marT="0" marB="0"/>
                </a:tc>
                <a:tc>
                  <a:txBody>
                    <a:bodyPr/>
                    <a:lstStyle/>
                    <a:p>
                      <a:pPr marL="0" algn="l" defTabSz="914400" rtl="0" eaLnBrk="1" latinLnBrk="0" hangingPunct="1">
                        <a:lnSpc>
                          <a:spcPct val="115000"/>
                        </a:lnSpc>
                        <a:spcAft>
                          <a:spcPts val="800"/>
                        </a:spcAft>
                        <a:buNone/>
                      </a:pPr>
                      <a:r>
                        <a:rPr lang="en-US" sz="1800" b="1" kern="1200" dirty="0">
                          <a:solidFill>
                            <a:schemeClr val="accent1">
                              <a:lumMod val="75000"/>
                            </a:schemeClr>
                          </a:solidFill>
                          <a:latin typeface="+mn-lt"/>
                          <a:ea typeface="+mn-ea"/>
                          <a:cs typeface="+mn-cs"/>
                        </a:rPr>
                        <a:t>Potential (DV)</a:t>
                      </a:r>
                    </a:p>
                  </a:txBody>
                  <a:tcPr/>
                </a:tc>
                <a:tc>
                  <a:txBody>
                    <a:bodyPr/>
                    <a:lstStyle/>
                    <a:p>
                      <a:pPr algn="just">
                        <a:buNone/>
                      </a:pPr>
                      <a:r>
                        <a:rPr lang="en-US" sz="1800" b="1" kern="1200" dirty="0">
                          <a:solidFill>
                            <a:schemeClr val="accent1">
                              <a:lumMod val="75000"/>
                            </a:schemeClr>
                          </a:solidFill>
                          <a:latin typeface="+mn-lt"/>
                          <a:ea typeface="+mn-ea"/>
                          <a:cs typeface="+mn-cs"/>
                        </a:rPr>
                        <a:t>Quantitative </a:t>
                      </a:r>
                    </a:p>
                  </a:txBody>
                  <a:tcPr marL="68580" marR="68580" marT="0" marB="0"/>
                </a:tc>
                <a:tc>
                  <a:txBody>
                    <a:bodyPr/>
                    <a:lstStyle/>
                    <a:p>
                      <a:pPr algn="just">
                        <a:buNone/>
                      </a:pPr>
                      <a:r>
                        <a:rPr lang="en-US" sz="1800" b="1" kern="1200" dirty="0">
                          <a:solidFill>
                            <a:schemeClr val="accent1">
                              <a:lumMod val="75000"/>
                            </a:schemeClr>
                          </a:solidFill>
                          <a:latin typeface="+mn-lt"/>
                          <a:ea typeface="+mn-ea"/>
                          <a:cs typeface="+mn-cs"/>
                        </a:rPr>
                        <a:t>ratio</a:t>
                      </a:r>
                    </a:p>
                  </a:txBody>
                  <a:tcPr marL="68580" marR="68580" marT="0" marB="0"/>
                </a:tc>
                <a:extLst>
                  <a:ext uri="{0D108BD9-81ED-4DB2-BD59-A6C34878D82A}">
                    <a16:rowId xmlns:a16="http://schemas.microsoft.com/office/drawing/2014/main" val="3160271780"/>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X3  Price flexibility</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41555848"/>
                  </a:ext>
                </a:extLst>
              </a:tr>
              <a:tr h="370840">
                <a:tc>
                  <a:txBody>
                    <a:bodyPr/>
                    <a:lstStyle/>
                    <a:p>
                      <a:pPr algn="ctr"/>
                      <a:endParaRPr lang="en-US" dirty="0"/>
                    </a:p>
                  </a:txBody>
                  <a:tcPr/>
                </a:tc>
                <a:tc>
                  <a:txBody>
                    <a:bodyPr/>
                    <a:lstStyle/>
                    <a:p>
                      <a:pPr marL="0" algn="l" defTabSz="914400" rtl="0" eaLnBrk="1" latinLnBrk="0" hangingPunct="1">
                        <a:buNone/>
                      </a:pPr>
                      <a:r>
                        <a:rPr lang="en-US" sz="1800" b="1" kern="1200" dirty="0">
                          <a:solidFill>
                            <a:schemeClr val="accent1">
                              <a:lumMod val="75000"/>
                            </a:schemeClr>
                          </a:solidFill>
                          <a:latin typeface="+mn-lt"/>
                          <a:ea typeface="+mn-ea"/>
                          <a:cs typeface="+mn-cs"/>
                        </a:rPr>
                        <a:t>X4  Manufacturer's image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accent1">
                              <a:lumMod val="75000"/>
                            </a:schemeClr>
                          </a:solidFill>
                          <a:latin typeface="+mn-lt"/>
                          <a:ea typeface="+mn-ea"/>
                          <a:cs typeface="+mn-cs"/>
                        </a:rPr>
                        <a:t>Potential (DV)</a:t>
                      </a:r>
                    </a:p>
                  </a:txBody>
                  <a:tcPr/>
                </a:tc>
                <a:tc>
                  <a:txBody>
                    <a:bodyPr/>
                    <a:lstStyle/>
                    <a:p>
                      <a:pPr algn="just">
                        <a:buNone/>
                      </a:pPr>
                      <a:r>
                        <a:rPr lang="en-US" sz="1800" b="1" kern="1200" dirty="0">
                          <a:solidFill>
                            <a:schemeClr val="accent1">
                              <a:lumMod val="75000"/>
                            </a:schemeClr>
                          </a:solidFill>
                          <a:latin typeface="+mn-lt"/>
                          <a:ea typeface="+mn-ea"/>
                          <a:cs typeface="+mn-cs"/>
                        </a:rPr>
                        <a:t>Quantitative </a:t>
                      </a:r>
                    </a:p>
                  </a:txBody>
                  <a:tcPr marL="68580" marR="68580" marT="0" marB="0"/>
                </a:tc>
                <a:tc>
                  <a:txBody>
                    <a:bodyPr/>
                    <a:lstStyle/>
                    <a:p>
                      <a:pPr algn="just">
                        <a:buNone/>
                      </a:pPr>
                      <a:r>
                        <a:rPr lang="en-US" sz="1800" b="1" kern="1200" dirty="0">
                          <a:solidFill>
                            <a:schemeClr val="accent1">
                              <a:lumMod val="75000"/>
                            </a:schemeClr>
                          </a:solidFill>
                          <a:latin typeface="+mn-lt"/>
                          <a:ea typeface="+mn-ea"/>
                          <a:cs typeface="+mn-cs"/>
                        </a:rPr>
                        <a:t>ratio</a:t>
                      </a:r>
                    </a:p>
                  </a:txBody>
                  <a:tcPr marL="68580" marR="68580" marT="0" marB="0"/>
                </a:tc>
                <a:extLst>
                  <a:ext uri="{0D108BD9-81ED-4DB2-BD59-A6C34878D82A}">
                    <a16:rowId xmlns:a16="http://schemas.microsoft.com/office/drawing/2014/main" val="1364005033"/>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X5  Service level</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706583892"/>
                  </a:ext>
                </a:extLst>
              </a:tr>
              <a:tr h="370840">
                <a:tc>
                  <a:txBody>
                    <a:bodyPr/>
                    <a:lstStyle/>
                    <a:p>
                      <a:pPr algn="ctr"/>
                      <a:endParaRPr lang="en-US" dirty="0"/>
                    </a:p>
                  </a:txBody>
                  <a:tcPr/>
                </a:tc>
                <a:tc>
                  <a:txBody>
                    <a:bodyPr/>
                    <a:lstStyle/>
                    <a:p>
                      <a:pPr marL="0" algn="l" defTabSz="914400" rtl="0" eaLnBrk="1" latinLnBrk="0" hangingPunct="1">
                        <a:buNone/>
                      </a:pPr>
                      <a:r>
                        <a:rPr lang="en-US" sz="1800" b="1" kern="1200" dirty="0">
                          <a:solidFill>
                            <a:schemeClr val="accent1">
                              <a:lumMod val="75000"/>
                            </a:schemeClr>
                          </a:solidFill>
                          <a:latin typeface="+mn-lt"/>
                          <a:ea typeface="+mn-ea"/>
                          <a:cs typeface="+mn-cs"/>
                        </a:rPr>
                        <a:t>X6  Salesforce's image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accent1">
                              <a:lumMod val="75000"/>
                            </a:schemeClr>
                          </a:solidFill>
                          <a:latin typeface="+mn-lt"/>
                          <a:ea typeface="+mn-ea"/>
                          <a:cs typeface="+mn-cs"/>
                        </a:rPr>
                        <a:t>Potential (DV)</a:t>
                      </a:r>
                    </a:p>
                  </a:txBody>
                  <a:tcPr/>
                </a:tc>
                <a:tc>
                  <a:txBody>
                    <a:bodyPr/>
                    <a:lstStyle/>
                    <a:p>
                      <a:pPr algn="just">
                        <a:buNone/>
                      </a:pPr>
                      <a:r>
                        <a:rPr lang="en-US" sz="1800" b="1" kern="1200" dirty="0">
                          <a:solidFill>
                            <a:schemeClr val="accent1">
                              <a:lumMod val="75000"/>
                            </a:schemeClr>
                          </a:solidFill>
                          <a:latin typeface="+mn-lt"/>
                          <a:ea typeface="+mn-ea"/>
                          <a:cs typeface="+mn-cs"/>
                        </a:rPr>
                        <a:t>Quantitative </a:t>
                      </a:r>
                    </a:p>
                  </a:txBody>
                  <a:tcPr marL="68580" marR="68580" marT="0" marB="0"/>
                </a:tc>
                <a:tc>
                  <a:txBody>
                    <a:bodyPr/>
                    <a:lstStyle/>
                    <a:p>
                      <a:pPr algn="just">
                        <a:buNone/>
                      </a:pPr>
                      <a:r>
                        <a:rPr lang="en-US" sz="1800" b="1" kern="1200" dirty="0">
                          <a:solidFill>
                            <a:schemeClr val="accent1">
                              <a:lumMod val="75000"/>
                            </a:schemeClr>
                          </a:solidFill>
                          <a:latin typeface="+mn-lt"/>
                          <a:ea typeface="+mn-ea"/>
                          <a:cs typeface="+mn-cs"/>
                        </a:rPr>
                        <a:t>ratio</a:t>
                      </a:r>
                    </a:p>
                  </a:txBody>
                  <a:tcPr marL="68580" marR="68580" marT="0" marB="0"/>
                </a:tc>
                <a:extLst>
                  <a:ext uri="{0D108BD9-81ED-4DB2-BD59-A6C34878D82A}">
                    <a16:rowId xmlns:a16="http://schemas.microsoft.com/office/drawing/2014/main" val="2657893735"/>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X7  Product quality</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dirty="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916116820"/>
                  </a:ext>
                </a:extLst>
              </a:tr>
            </a:tbl>
          </a:graphicData>
        </a:graphic>
      </p:graphicFrame>
    </p:spTree>
    <p:extLst>
      <p:ext uri="{BB962C8B-B14F-4D97-AF65-F5344CB8AC3E}">
        <p14:creationId xmlns:p14="http://schemas.microsoft.com/office/powerpoint/2010/main" val="1278998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B5CDCB-6B67-F985-8AC1-83505ADB6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12495-47BB-A752-E047-1BE19517DA87}"/>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Section (1): </a:t>
            </a:r>
            <a:br>
              <a:rPr lang="en-US" dirty="0"/>
            </a:br>
            <a:r>
              <a:rPr lang="en-US" dirty="0"/>
              <a:t>Introduction and Variables</a:t>
            </a:r>
          </a:p>
        </p:txBody>
      </p:sp>
      <p:graphicFrame>
        <p:nvGraphicFramePr>
          <p:cNvPr id="5" name="Content Placeholder 4">
            <a:extLst>
              <a:ext uri="{FF2B5EF4-FFF2-40B4-BE49-F238E27FC236}">
                <a16:creationId xmlns:a16="http://schemas.microsoft.com/office/drawing/2014/main" id="{525A11D7-8239-C867-67D5-B0AC7176681A}"/>
              </a:ext>
            </a:extLst>
          </p:cNvPr>
          <p:cNvGraphicFramePr>
            <a:graphicFrameLocks noGrp="1"/>
          </p:cNvGraphicFramePr>
          <p:nvPr>
            <p:ph idx="1"/>
            <p:extLst>
              <p:ext uri="{D42A27DB-BD31-4B8C-83A1-F6EECF244321}">
                <p14:modId xmlns:p14="http://schemas.microsoft.com/office/powerpoint/2010/main" val="3104346731"/>
              </p:ext>
            </p:extLst>
          </p:nvPr>
        </p:nvGraphicFramePr>
        <p:xfrm>
          <a:off x="1096963" y="2108200"/>
          <a:ext cx="10058400" cy="361657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655281091"/>
                    </a:ext>
                  </a:extLst>
                </a:gridCol>
                <a:gridCol w="3186075">
                  <a:extLst>
                    <a:ext uri="{9D8B030D-6E8A-4147-A177-3AD203B41FA5}">
                      <a16:colId xmlns:a16="http://schemas.microsoft.com/office/drawing/2014/main" val="3677697105"/>
                    </a:ext>
                  </a:extLst>
                </a:gridCol>
                <a:gridCol w="2088776">
                  <a:extLst>
                    <a:ext uri="{9D8B030D-6E8A-4147-A177-3AD203B41FA5}">
                      <a16:colId xmlns:a16="http://schemas.microsoft.com/office/drawing/2014/main" val="476733379"/>
                    </a:ext>
                  </a:extLst>
                </a:gridCol>
                <a:gridCol w="2680447">
                  <a:extLst>
                    <a:ext uri="{9D8B030D-6E8A-4147-A177-3AD203B41FA5}">
                      <a16:colId xmlns:a16="http://schemas.microsoft.com/office/drawing/2014/main" val="707175453"/>
                    </a:ext>
                  </a:extLst>
                </a:gridCol>
                <a:gridCol w="1894822">
                  <a:extLst>
                    <a:ext uri="{9D8B030D-6E8A-4147-A177-3AD203B41FA5}">
                      <a16:colId xmlns:a16="http://schemas.microsoft.com/office/drawing/2014/main" val="3386724861"/>
                    </a:ext>
                  </a:extLst>
                </a:gridCol>
              </a:tblGrid>
              <a:tr h="370840">
                <a:tc gridSpan="5">
                  <a:txBody>
                    <a:bodyPr/>
                    <a:lstStyle/>
                    <a:p>
                      <a:r>
                        <a:rPr lang="en-US" dirty="0"/>
                        <a:t>HATCO Customer Satisfaction Study </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44900121"/>
                  </a:ext>
                </a:extLst>
              </a:tr>
              <a:tr h="370840">
                <a:tc>
                  <a:txBody>
                    <a:bodyPr/>
                    <a:lstStyle/>
                    <a:p>
                      <a:pPr algn="ct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Name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Role in Study</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Type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Level of Measurement</a:t>
                      </a:r>
                      <a:endParaRPr lang="en-US" dirty="0"/>
                    </a:p>
                  </a:txBody>
                  <a:tcPr>
                    <a:solidFill>
                      <a:schemeClr val="accent3"/>
                    </a:solidFill>
                  </a:tcPr>
                </a:tc>
                <a:extLst>
                  <a:ext uri="{0D108BD9-81ED-4DB2-BD59-A6C34878D82A}">
                    <a16:rowId xmlns:a16="http://schemas.microsoft.com/office/drawing/2014/main" val="962675635"/>
                  </a:ext>
                </a:extLst>
              </a:tr>
              <a:tr h="370840">
                <a:tc>
                  <a:txBody>
                    <a:bodyPr/>
                    <a:lstStyle/>
                    <a:p>
                      <a:pPr algn="ctr"/>
                      <a:endParaRPr lang="en-US" dirty="0"/>
                    </a:p>
                  </a:txBody>
                  <a:tcPr/>
                </a:tc>
                <a:tc>
                  <a:txBody>
                    <a:bodyPr/>
                    <a:lstStyle/>
                    <a:p>
                      <a:pPr algn="l">
                        <a:buNone/>
                      </a:pPr>
                      <a:r>
                        <a:rPr lang="en-US" sz="1800" b="1" kern="1200" dirty="0">
                          <a:solidFill>
                            <a:schemeClr val="accent1">
                              <a:lumMod val="75000"/>
                            </a:schemeClr>
                          </a:solidFill>
                          <a:latin typeface="+mn-lt"/>
                          <a:ea typeface="+mn-ea"/>
                          <a:cs typeface="+mn-cs"/>
                        </a:rPr>
                        <a:t>X8  Size of firm</a:t>
                      </a:r>
                    </a:p>
                  </a:txBody>
                  <a:tcPr marL="68580" marR="68580" marT="0" marB="0"/>
                </a:tc>
                <a:tc>
                  <a:txBody>
                    <a:bodyPr/>
                    <a:lstStyle/>
                    <a:p>
                      <a:pPr marL="0" algn="l" defTabSz="914400" rtl="0" eaLnBrk="1" latinLnBrk="0" hangingPunct="1">
                        <a:lnSpc>
                          <a:spcPct val="115000"/>
                        </a:lnSpc>
                        <a:spcAft>
                          <a:spcPts val="800"/>
                        </a:spcAft>
                        <a:buNone/>
                      </a:pPr>
                      <a:r>
                        <a:rPr lang="en-US" sz="1800" b="1" kern="1200" dirty="0">
                          <a:solidFill>
                            <a:schemeClr val="accent1">
                              <a:lumMod val="75000"/>
                            </a:schemeClr>
                          </a:solidFill>
                          <a:latin typeface="+mn-lt"/>
                          <a:ea typeface="+mn-ea"/>
                          <a:cs typeface="+mn-cs"/>
                        </a:rPr>
                        <a:t>Potential (IV)</a:t>
                      </a:r>
                    </a:p>
                  </a:txBody>
                  <a:tcPr marL="68580" marR="68580" marT="0" marB="0" anchor="ctr"/>
                </a:tc>
                <a:tc>
                  <a:txBody>
                    <a:bodyPr/>
                    <a:lstStyle/>
                    <a:p>
                      <a:pPr algn="just">
                        <a:buNone/>
                      </a:pPr>
                      <a:r>
                        <a:rPr lang="en-US" sz="1800" b="1" kern="1200" dirty="0">
                          <a:solidFill>
                            <a:schemeClr val="accent1">
                              <a:lumMod val="75000"/>
                            </a:schemeClr>
                          </a:solidFill>
                          <a:latin typeface="+mn-lt"/>
                          <a:ea typeface="+mn-ea"/>
                          <a:cs typeface="+mn-cs"/>
                        </a:rPr>
                        <a:t>Qualitative (3 Groups)</a:t>
                      </a:r>
                    </a:p>
                  </a:txBody>
                  <a:tcPr marL="68580" marR="68580" marT="0" marB="0"/>
                </a:tc>
                <a:tc>
                  <a:txBody>
                    <a:bodyPr/>
                    <a:lstStyle/>
                    <a:p>
                      <a:pPr algn="just">
                        <a:buNone/>
                      </a:pPr>
                      <a:r>
                        <a:rPr lang="en-US" sz="1800" b="1" kern="1200" dirty="0">
                          <a:solidFill>
                            <a:schemeClr val="accent1">
                              <a:lumMod val="75000"/>
                            </a:schemeClr>
                          </a:solidFill>
                          <a:latin typeface="+mn-lt"/>
                          <a:ea typeface="+mn-ea"/>
                          <a:cs typeface="+mn-cs"/>
                        </a:rPr>
                        <a:t>ordinal</a:t>
                      </a:r>
                    </a:p>
                  </a:txBody>
                  <a:tcPr marL="68580" marR="68580" marT="0" marB="0"/>
                </a:tc>
                <a:extLst>
                  <a:ext uri="{0D108BD9-81ED-4DB2-BD59-A6C34878D82A}">
                    <a16:rowId xmlns:a16="http://schemas.microsoft.com/office/drawing/2014/main" val="1573933839"/>
                  </a:ext>
                </a:extLst>
              </a:tr>
              <a:tr h="370840">
                <a:tc>
                  <a:txBody>
                    <a:bodyPr/>
                    <a:lstStyle/>
                    <a:p>
                      <a:pPr algn="ctr"/>
                      <a:endParaRPr lang="en-US" dirty="0"/>
                    </a:p>
                  </a:txBody>
                  <a:tcPr/>
                </a:tc>
                <a:tc>
                  <a:txBody>
                    <a:bodyPr/>
                    <a:lstStyle/>
                    <a:p>
                      <a:pPr algn="l">
                        <a:buNone/>
                      </a:pPr>
                      <a:r>
                        <a:rPr lang="en-US" sz="1800" b="1" kern="1200" dirty="0">
                          <a:solidFill>
                            <a:schemeClr val="accent1">
                              <a:lumMod val="75000"/>
                            </a:schemeClr>
                          </a:solidFill>
                          <a:latin typeface="+mn-lt"/>
                          <a:ea typeface="+mn-ea"/>
                          <a:cs typeface="+mn-cs"/>
                        </a:rPr>
                        <a:t>X9  Usage level</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accent1">
                              <a:lumMod val="75000"/>
                            </a:schemeClr>
                          </a:solidFill>
                          <a:latin typeface="+mn-lt"/>
                          <a:ea typeface="+mn-ea"/>
                          <a:cs typeface="+mn-cs"/>
                        </a:rPr>
                        <a:t>(CV)</a:t>
                      </a:r>
                    </a:p>
                  </a:txBody>
                  <a:tcPr/>
                </a:tc>
                <a:tc>
                  <a:txBody>
                    <a:bodyPr/>
                    <a:lstStyle/>
                    <a:p>
                      <a:pPr algn="just">
                        <a:buNone/>
                      </a:pPr>
                      <a:r>
                        <a:rPr lang="en-US" sz="1800" b="1" kern="1200" dirty="0">
                          <a:solidFill>
                            <a:schemeClr val="accent1">
                              <a:lumMod val="75000"/>
                            </a:schemeClr>
                          </a:solidFill>
                          <a:latin typeface="+mn-lt"/>
                          <a:ea typeface="+mn-ea"/>
                          <a:cs typeface="+mn-cs"/>
                        </a:rPr>
                        <a:t>Quantitative</a:t>
                      </a:r>
                    </a:p>
                  </a:txBody>
                  <a:tcPr marL="68580" marR="68580" marT="0" marB="0"/>
                </a:tc>
                <a:tc>
                  <a:txBody>
                    <a:bodyPr/>
                    <a:lstStyle/>
                    <a:p>
                      <a:pPr algn="just">
                        <a:buNone/>
                      </a:pPr>
                      <a:r>
                        <a:rPr lang="en-US" sz="1800" b="1" kern="1200" dirty="0">
                          <a:solidFill>
                            <a:schemeClr val="accent1">
                              <a:lumMod val="75000"/>
                            </a:schemeClr>
                          </a:solidFill>
                          <a:latin typeface="+mn-lt"/>
                          <a:ea typeface="+mn-ea"/>
                          <a:cs typeface="+mn-cs"/>
                        </a:rPr>
                        <a:t>ratio</a:t>
                      </a:r>
                    </a:p>
                  </a:txBody>
                  <a:tcPr marL="68580" marR="68580" marT="0" marB="0"/>
                </a:tc>
                <a:extLst>
                  <a:ext uri="{0D108BD9-81ED-4DB2-BD59-A6C34878D82A}">
                    <a16:rowId xmlns:a16="http://schemas.microsoft.com/office/drawing/2014/main" val="3160271780"/>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X10  Satisfaction level</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41555848"/>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X11  Specification buying</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Qualitative (2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1364005033"/>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X12  Structure of procurement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Original Variable</a:t>
                      </a:r>
                      <a:endParaRPr lang="en-US" sz="1800" kern="1200" dirty="0">
                        <a:solidFill>
                          <a:schemeClr val="dk1"/>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Qualitative (2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1706583892"/>
                  </a:ext>
                </a:extLst>
              </a:tr>
              <a:tr h="370840">
                <a:tc>
                  <a:txBody>
                    <a:bodyPr/>
                    <a:lstStyle/>
                    <a:p>
                      <a:pPr algn="ctr"/>
                      <a:endParaRPr lang="en-US" dirty="0"/>
                    </a:p>
                  </a:txBody>
                  <a:tcPr/>
                </a:tc>
                <a:tc>
                  <a:txBody>
                    <a:bodyPr/>
                    <a:lstStyle/>
                    <a:p>
                      <a:pPr algn="l">
                        <a:buNone/>
                      </a:pPr>
                      <a:r>
                        <a:rPr lang="en-US" sz="1800" kern="1200">
                          <a:solidFill>
                            <a:schemeClr val="dk1"/>
                          </a:solidFill>
                          <a:latin typeface="+mn-lt"/>
                          <a:ea typeface="+mn-ea"/>
                          <a:cs typeface="+mn-cs"/>
                        </a:rPr>
                        <a:t>X13  Type of industry</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Original Variable</a:t>
                      </a:r>
                      <a:endParaRPr lang="en-US" sz="1800" kern="1200" dirty="0">
                        <a:solidFill>
                          <a:schemeClr val="dk1"/>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Qualitative (2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2657893735"/>
                  </a:ext>
                </a:extLst>
              </a:tr>
              <a:tr h="370840">
                <a:tc>
                  <a:txBody>
                    <a:bodyPr/>
                    <a:lstStyle/>
                    <a:p>
                      <a:pPr algn="ctr"/>
                      <a:endParaRPr lang="en-US" dirty="0"/>
                    </a:p>
                  </a:txBody>
                  <a:tcPr/>
                </a:tc>
                <a:tc>
                  <a:txBody>
                    <a:bodyPr/>
                    <a:lstStyle/>
                    <a:p>
                      <a:pPr algn="l">
                        <a:buNone/>
                      </a:pPr>
                      <a:r>
                        <a:rPr lang="en-US" sz="1800" b="1" kern="1200" dirty="0">
                          <a:solidFill>
                            <a:schemeClr val="accent1">
                              <a:lumMod val="75000"/>
                            </a:schemeClr>
                          </a:solidFill>
                          <a:latin typeface="+mn-lt"/>
                          <a:ea typeface="+mn-ea"/>
                          <a:cs typeface="+mn-cs"/>
                        </a:rPr>
                        <a:t>X14  Type of buying situation</a:t>
                      </a:r>
                    </a:p>
                  </a:txBody>
                  <a:tcPr marL="68580" marR="68580" marT="0" marB="0"/>
                </a:tc>
                <a:tc>
                  <a:txBody>
                    <a:bodyPr/>
                    <a:lstStyle/>
                    <a:p>
                      <a:pPr marL="0" algn="l" defTabSz="914400" rtl="0" eaLnBrk="1" latinLnBrk="0" hangingPunct="1">
                        <a:lnSpc>
                          <a:spcPct val="115000"/>
                        </a:lnSpc>
                        <a:spcAft>
                          <a:spcPts val="800"/>
                        </a:spcAft>
                        <a:buNone/>
                      </a:pPr>
                      <a:r>
                        <a:rPr lang="en-US" sz="1800" b="1" kern="1200" dirty="0">
                          <a:solidFill>
                            <a:schemeClr val="accent1">
                              <a:lumMod val="75000"/>
                            </a:schemeClr>
                          </a:solidFill>
                          <a:latin typeface="+mn-lt"/>
                          <a:ea typeface="+mn-ea"/>
                          <a:cs typeface="+mn-cs"/>
                        </a:rPr>
                        <a:t>Potential (IV)</a:t>
                      </a:r>
                    </a:p>
                  </a:txBody>
                  <a:tcPr/>
                </a:tc>
                <a:tc>
                  <a:txBody>
                    <a:bodyPr/>
                    <a:lstStyle/>
                    <a:p>
                      <a:pPr algn="just">
                        <a:buNone/>
                      </a:pPr>
                      <a:r>
                        <a:rPr lang="en-US" sz="1800" b="1" kern="1200" dirty="0">
                          <a:solidFill>
                            <a:schemeClr val="accent1">
                              <a:lumMod val="75000"/>
                            </a:schemeClr>
                          </a:solidFill>
                          <a:latin typeface="+mn-lt"/>
                          <a:ea typeface="+mn-ea"/>
                          <a:cs typeface="+mn-cs"/>
                        </a:rPr>
                        <a:t>Qualitative (3 Groups)</a:t>
                      </a:r>
                    </a:p>
                  </a:txBody>
                  <a:tcPr marL="68580" marR="68580" marT="0" marB="0"/>
                </a:tc>
                <a:tc>
                  <a:txBody>
                    <a:bodyPr/>
                    <a:lstStyle/>
                    <a:p>
                      <a:pPr algn="just">
                        <a:buNone/>
                      </a:pPr>
                      <a:r>
                        <a:rPr lang="en-US" sz="1800" b="1" kern="1200" dirty="0">
                          <a:solidFill>
                            <a:schemeClr val="accent1">
                              <a:lumMod val="75000"/>
                            </a:schemeClr>
                          </a:solidFill>
                          <a:latin typeface="+mn-lt"/>
                          <a:ea typeface="+mn-ea"/>
                          <a:cs typeface="+mn-cs"/>
                        </a:rPr>
                        <a:t>nominal</a:t>
                      </a:r>
                    </a:p>
                  </a:txBody>
                  <a:tcPr marL="68580" marR="68580" marT="0" marB="0"/>
                </a:tc>
                <a:extLst>
                  <a:ext uri="{0D108BD9-81ED-4DB2-BD59-A6C34878D82A}">
                    <a16:rowId xmlns:a16="http://schemas.microsoft.com/office/drawing/2014/main" val="916116820"/>
                  </a:ext>
                </a:extLst>
              </a:tr>
            </a:tbl>
          </a:graphicData>
        </a:graphic>
      </p:graphicFrame>
    </p:spTree>
    <p:extLst>
      <p:ext uri="{BB962C8B-B14F-4D97-AF65-F5344CB8AC3E}">
        <p14:creationId xmlns:p14="http://schemas.microsoft.com/office/powerpoint/2010/main" val="145549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6B01-F27C-E607-8A38-E9B68ED2C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B2F67-A8EC-CB61-7F1E-12A0A65CD2C9}"/>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6473EBC3-0E25-ACC2-C91D-D3FB099F812A}"/>
              </a:ext>
            </a:extLst>
          </p:cNvPr>
          <p:cNvSpPr>
            <a:spLocks noGrp="1"/>
          </p:cNvSpPr>
          <p:nvPr>
            <p:ph sz="half" idx="1"/>
          </p:nvPr>
        </p:nvSpPr>
        <p:spPr>
          <a:xfrm>
            <a:off x="1097280" y="2120901"/>
            <a:ext cx="4639736" cy="514724"/>
          </a:xfrm>
        </p:spPr>
        <p:txBody>
          <a:bodyPr>
            <a:normAutofit/>
          </a:bodyPr>
          <a:lstStyle/>
          <a:p>
            <a:r>
              <a:rPr lang="en-US" b="1" dirty="0"/>
              <a:t>Firm size:</a:t>
            </a:r>
          </a:p>
        </p:txBody>
      </p:sp>
      <p:graphicFrame>
        <p:nvGraphicFramePr>
          <p:cNvPr id="12" name="Content Placeholder 11">
            <a:extLst>
              <a:ext uri="{FF2B5EF4-FFF2-40B4-BE49-F238E27FC236}">
                <a16:creationId xmlns:a16="http://schemas.microsoft.com/office/drawing/2014/main" id="{4D78E185-5DAA-6DAA-C7A7-879626E2506B}"/>
              </a:ext>
            </a:extLst>
          </p:cNvPr>
          <p:cNvGraphicFramePr>
            <a:graphicFrameLocks noGrp="1"/>
          </p:cNvGraphicFramePr>
          <p:nvPr>
            <p:ph sz="half" idx="2"/>
            <p:extLst>
              <p:ext uri="{D42A27DB-BD31-4B8C-83A1-F6EECF244321}">
                <p14:modId xmlns:p14="http://schemas.microsoft.com/office/powerpoint/2010/main" val="4246908857"/>
              </p:ext>
            </p:extLst>
          </p:nvPr>
        </p:nvGraphicFramePr>
        <p:xfrm>
          <a:off x="1098341" y="2762176"/>
          <a:ext cx="4638675" cy="148336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algn="ctr" fontAlgn="t">
                        <a:buNone/>
                      </a:pPr>
                      <a:r>
                        <a:rPr lang="en-US" sz="1900" b="1" kern="1200" dirty="0" err="1">
                          <a:solidFill>
                            <a:schemeClr val="tx1">
                              <a:lumMod val="75000"/>
                              <a:lumOff val="25000"/>
                            </a:schemeClr>
                          </a:solidFill>
                          <a:latin typeface="+mn-lt"/>
                          <a:ea typeface="+mn-ea"/>
                          <a:cs typeface="+mn-cs"/>
                        </a:rPr>
                        <a:t>firm_size</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algn="ctr" fontAlgn="t">
                        <a:buNone/>
                      </a:pPr>
                      <a:r>
                        <a:rPr lang="en-US" sz="1900" b="1" kern="1200" dirty="0">
                          <a:solidFill>
                            <a:schemeClr val="tx1">
                              <a:lumMod val="75000"/>
                              <a:lumOff val="25000"/>
                            </a:schemeClr>
                          </a:solidFill>
                          <a:latin typeface="+mn-lt"/>
                          <a:ea typeface="+mn-ea"/>
                          <a:cs typeface="+mn-cs"/>
                        </a:rPr>
                        <a:t>Count</a:t>
                      </a:r>
                    </a:p>
                  </a:txBody>
                  <a:tcPr marL="68580" marR="68580" marT="0" marB="0"/>
                </a:tc>
                <a:tc>
                  <a:txBody>
                    <a:bodyPr/>
                    <a:lstStyle/>
                    <a:p>
                      <a:pPr algn="ctr" fontAlgn="t">
                        <a:buNone/>
                      </a:pPr>
                      <a:r>
                        <a:rPr lang="en-US" sz="1900" b="1" kern="1200" dirty="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small</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30</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30</a:t>
                      </a:r>
                    </a:p>
                  </a:txBody>
                  <a:tcPr marL="68580" marR="68580" marT="0" marB="0" anchor="b"/>
                </a:tc>
                <a:extLst>
                  <a:ext uri="{0D108BD9-81ED-4DB2-BD59-A6C34878D82A}">
                    <a16:rowId xmlns:a16="http://schemas.microsoft.com/office/drawing/2014/main" val="3863068190"/>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medium</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38</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38</a:t>
                      </a:r>
                    </a:p>
                  </a:txBody>
                  <a:tcPr marL="68580" marR="68580" marT="0" marB="0" anchor="b"/>
                </a:tc>
                <a:extLst>
                  <a:ext uri="{0D108BD9-81ED-4DB2-BD59-A6C34878D82A}">
                    <a16:rowId xmlns:a16="http://schemas.microsoft.com/office/drawing/2014/main" val="626304520"/>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large</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32</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32</a:t>
                      </a:r>
                    </a:p>
                  </a:txBody>
                  <a:tcPr marL="68580" marR="68580" marT="0" marB="0" anchor="b"/>
                </a:tc>
                <a:extLst>
                  <a:ext uri="{0D108BD9-81ED-4DB2-BD59-A6C34878D82A}">
                    <a16:rowId xmlns:a16="http://schemas.microsoft.com/office/drawing/2014/main" val="2074715061"/>
                  </a:ext>
                </a:extLst>
              </a:tr>
            </a:tbl>
          </a:graphicData>
        </a:graphic>
      </p:graphicFrame>
      <p:pic>
        <p:nvPicPr>
          <p:cNvPr id="14" name="Picture 13">
            <a:extLst>
              <a:ext uri="{FF2B5EF4-FFF2-40B4-BE49-F238E27FC236}">
                <a16:creationId xmlns:a16="http://schemas.microsoft.com/office/drawing/2014/main" id="{017A757F-A872-ECE4-6FB8-5917E61EF9A4}"/>
              </a:ext>
            </a:extLst>
          </p:cNvPr>
          <p:cNvPicPr>
            <a:picLocks noChangeAspect="1"/>
          </p:cNvPicPr>
          <p:nvPr/>
        </p:nvPicPr>
        <p:blipFill>
          <a:blip r:embed="rId3"/>
          <a:stretch>
            <a:fillRect/>
          </a:stretch>
        </p:blipFill>
        <p:spPr>
          <a:xfrm>
            <a:off x="6126480" y="2120901"/>
            <a:ext cx="4419608" cy="3314706"/>
          </a:xfrm>
          <a:prstGeom prst="rect">
            <a:avLst/>
          </a:prstGeom>
        </p:spPr>
      </p:pic>
    </p:spTree>
    <p:extLst>
      <p:ext uri="{BB962C8B-B14F-4D97-AF65-F5344CB8AC3E}">
        <p14:creationId xmlns:p14="http://schemas.microsoft.com/office/powerpoint/2010/main" val="1388136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8087F-353C-F807-C025-95828909A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8A92F-4FF1-F627-CFE1-48CE17261214}"/>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C40632E9-FFA4-BF06-0C49-B61657DA2201}"/>
              </a:ext>
            </a:extLst>
          </p:cNvPr>
          <p:cNvSpPr>
            <a:spLocks noGrp="1"/>
          </p:cNvSpPr>
          <p:nvPr>
            <p:ph sz="half" idx="1"/>
          </p:nvPr>
        </p:nvSpPr>
        <p:spPr>
          <a:xfrm>
            <a:off x="1097280" y="2120901"/>
            <a:ext cx="4639736" cy="514724"/>
          </a:xfrm>
        </p:spPr>
        <p:txBody>
          <a:bodyPr>
            <a:normAutofit/>
          </a:bodyPr>
          <a:lstStyle/>
          <a:p>
            <a:r>
              <a:rPr lang="en-US" dirty="0"/>
              <a:t>Spec buying</a:t>
            </a:r>
            <a:r>
              <a:rPr lang="en-US" b="1" dirty="0"/>
              <a:t>:</a:t>
            </a:r>
          </a:p>
        </p:txBody>
      </p:sp>
      <p:graphicFrame>
        <p:nvGraphicFramePr>
          <p:cNvPr id="12" name="Content Placeholder 11">
            <a:extLst>
              <a:ext uri="{FF2B5EF4-FFF2-40B4-BE49-F238E27FC236}">
                <a16:creationId xmlns:a16="http://schemas.microsoft.com/office/drawing/2014/main" id="{22A32F6F-711F-178D-ED7B-040A53A1EE70}"/>
              </a:ext>
            </a:extLst>
          </p:cNvPr>
          <p:cNvGraphicFramePr>
            <a:graphicFrameLocks noGrp="1"/>
          </p:cNvGraphicFramePr>
          <p:nvPr>
            <p:ph sz="half" idx="2"/>
            <p:extLst>
              <p:ext uri="{D42A27DB-BD31-4B8C-83A1-F6EECF244321}">
                <p14:modId xmlns:p14="http://schemas.microsoft.com/office/powerpoint/2010/main" val="1360407754"/>
              </p:ext>
            </p:extLst>
          </p:nvPr>
        </p:nvGraphicFramePr>
        <p:xfrm>
          <a:off x="1098341" y="2762176"/>
          <a:ext cx="4638675" cy="111252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marL="0" algn="ctr" defTabSz="914400" rtl="0" eaLnBrk="1" fontAlgn="t" latinLnBrk="0" hangingPunct="1">
                        <a:buNone/>
                      </a:pPr>
                      <a:r>
                        <a:rPr lang="en-US" sz="1900" b="1" kern="1200" dirty="0" err="1">
                          <a:solidFill>
                            <a:schemeClr val="tx1">
                              <a:lumMod val="75000"/>
                              <a:lumOff val="25000"/>
                            </a:schemeClr>
                          </a:solidFill>
                          <a:latin typeface="+mn-lt"/>
                          <a:ea typeface="+mn-ea"/>
                          <a:cs typeface="+mn-cs"/>
                        </a:rPr>
                        <a:t>spec_buying</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Count</a:t>
                      </a: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Spec buying</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40</a:t>
                      </a:r>
                    </a:p>
                  </a:txBody>
                  <a:tcPr marL="68580" marR="68580" marT="0" marB="0" anchor="b"/>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40</a:t>
                      </a:r>
                    </a:p>
                  </a:txBody>
                  <a:tcPr marL="68580" marR="68580" marT="0" marB="0" anchor="b"/>
                </a:tc>
                <a:extLst>
                  <a:ext uri="{0D108BD9-81ED-4DB2-BD59-A6C34878D82A}">
                    <a16:rowId xmlns:a16="http://schemas.microsoft.com/office/drawing/2014/main" val="3863068190"/>
                  </a:ext>
                </a:extLst>
              </a:tr>
              <a:tr h="370840">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Total value</a:t>
                      </a: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60</a:t>
                      </a:r>
                    </a:p>
                  </a:txBody>
                  <a:tcPr marL="68580" marR="68580" marT="0" marB="0" anchor="b"/>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60</a:t>
                      </a:r>
                    </a:p>
                  </a:txBody>
                  <a:tcPr marL="68580" marR="68580" marT="0" marB="0" anchor="b"/>
                </a:tc>
                <a:extLst>
                  <a:ext uri="{0D108BD9-81ED-4DB2-BD59-A6C34878D82A}">
                    <a16:rowId xmlns:a16="http://schemas.microsoft.com/office/drawing/2014/main" val="626304520"/>
                  </a:ext>
                </a:extLst>
              </a:tr>
            </a:tbl>
          </a:graphicData>
        </a:graphic>
      </p:graphicFrame>
      <p:pic>
        <p:nvPicPr>
          <p:cNvPr id="4" name="Picture 3">
            <a:extLst>
              <a:ext uri="{FF2B5EF4-FFF2-40B4-BE49-F238E27FC236}">
                <a16:creationId xmlns:a16="http://schemas.microsoft.com/office/drawing/2014/main" id="{0EB840D2-0E9C-B500-7D65-119D3E601B8D}"/>
              </a:ext>
            </a:extLst>
          </p:cNvPr>
          <p:cNvPicPr>
            <a:picLocks noChangeAspect="1"/>
          </p:cNvPicPr>
          <p:nvPr/>
        </p:nvPicPr>
        <p:blipFill>
          <a:blip r:embed="rId3"/>
          <a:stretch>
            <a:fillRect/>
          </a:stretch>
        </p:blipFill>
        <p:spPr>
          <a:xfrm>
            <a:off x="6096000" y="2120901"/>
            <a:ext cx="4419608" cy="3314706"/>
          </a:xfrm>
          <a:prstGeom prst="rect">
            <a:avLst/>
          </a:prstGeom>
        </p:spPr>
      </p:pic>
    </p:spTree>
    <p:extLst>
      <p:ext uri="{BB962C8B-B14F-4D97-AF65-F5344CB8AC3E}">
        <p14:creationId xmlns:p14="http://schemas.microsoft.com/office/powerpoint/2010/main" val="3421467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0473-B6EE-2F34-C4BE-A0AF3B924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ECCFC-3DD7-8F41-C7F0-9A8974363BB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6BA0ACE6-4D4C-0AE4-586F-D4178D272E4B}"/>
              </a:ext>
            </a:extLst>
          </p:cNvPr>
          <p:cNvSpPr>
            <a:spLocks noGrp="1"/>
          </p:cNvSpPr>
          <p:nvPr>
            <p:ph sz="half" idx="1"/>
          </p:nvPr>
        </p:nvSpPr>
        <p:spPr>
          <a:xfrm>
            <a:off x="1097280" y="2120901"/>
            <a:ext cx="4639736" cy="514724"/>
          </a:xfrm>
        </p:spPr>
        <p:txBody>
          <a:bodyPr>
            <a:normAutofit/>
          </a:bodyPr>
          <a:lstStyle/>
          <a:p>
            <a:r>
              <a:rPr lang="en-US" b="1" dirty="0"/>
              <a:t>Procurement structure:</a:t>
            </a:r>
          </a:p>
        </p:txBody>
      </p:sp>
      <p:graphicFrame>
        <p:nvGraphicFramePr>
          <p:cNvPr id="12" name="Content Placeholder 11">
            <a:extLst>
              <a:ext uri="{FF2B5EF4-FFF2-40B4-BE49-F238E27FC236}">
                <a16:creationId xmlns:a16="http://schemas.microsoft.com/office/drawing/2014/main" id="{FB419F2E-3622-0F16-04E2-17599A062AB9}"/>
              </a:ext>
            </a:extLst>
          </p:cNvPr>
          <p:cNvGraphicFramePr>
            <a:graphicFrameLocks noGrp="1"/>
          </p:cNvGraphicFramePr>
          <p:nvPr>
            <p:ph sz="half" idx="2"/>
            <p:extLst>
              <p:ext uri="{D42A27DB-BD31-4B8C-83A1-F6EECF244321}">
                <p14:modId xmlns:p14="http://schemas.microsoft.com/office/powerpoint/2010/main" val="3707975634"/>
              </p:ext>
            </p:extLst>
          </p:nvPr>
        </p:nvGraphicFramePr>
        <p:xfrm>
          <a:off x="1098341" y="2762176"/>
          <a:ext cx="4638675" cy="132080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procurement_</a:t>
                      </a:r>
                      <a:br>
                        <a:rPr lang="en-US" sz="1900" b="1" kern="1200" dirty="0">
                          <a:solidFill>
                            <a:schemeClr val="tx1">
                              <a:lumMod val="75000"/>
                              <a:lumOff val="25000"/>
                            </a:schemeClr>
                          </a:solidFill>
                          <a:latin typeface="+mn-lt"/>
                          <a:ea typeface="+mn-ea"/>
                          <a:cs typeface="+mn-cs"/>
                        </a:rPr>
                      </a:br>
                      <a:r>
                        <a:rPr lang="en-US" sz="1900" b="1" kern="1200" dirty="0">
                          <a:solidFill>
                            <a:schemeClr val="tx1">
                              <a:lumMod val="75000"/>
                              <a:lumOff val="25000"/>
                            </a:schemeClr>
                          </a:solidFill>
                          <a:latin typeface="+mn-lt"/>
                          <a:ea typeface="+mn-ea"/>
                          <a:cs typeface="+mn-cs"/>
                        </a:rPr>
                        <a:t>structure</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Count</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centralized</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50</a:t>
                      </a:r>
                    </a:p>
                  </a:txBody>
                  <a:tcPr marL="68580" marR="68580" marT="0" marB="0" anchor="b"/>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3863068190"/>
                  </a:ext>
                </a:extLst>
              </a:tr>
              <a:tr h="370840">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decentralized</a:t>
                      </a: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50</a:t>
                      </a:r>
                    </a:p>
                  </a:txBody>
                  <a:tcPr marL="68580" marR="68580" marT="0" marB="0" anchor="b"/>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626304520"/>
                  </a:ext>
                </a:extLst>
              </a:tr>
            </a:tbl>
          </a:graphicData>
        </a:graphic>
      </p:graphicFrame>
      <p:pic>
        <p:nvPicPr>
          <p:cNvPr id="6" name="Picture 5">
            <a:extLst>
              <a:ext uri="{FF2B5EF4-FFF2-40B4-BE49-F238E27FC236}">
                <a16:creationId xmlns:a16="http://schemas.microsoft.com/office/drawing/2014/main" id="{2127B6B4-2C10-E698-CBD5-EC4D85845B72}"/>
              </a:ext>
            </a:extLst>
          </p:cNvPr>
          <p:cNvPicPr>
            <a:picLocks noChangeAspect="1"/>
          </p:cNvPicPr>
          <p:nvPr/>
        </p:nvPicPr>
        <p:blipFill>
          <a:blip r:embed="rId3"/>
          <a:stretch>
            <a:fillRect/>
          </a:stretch>
        </p:blipFill>
        <p:spPr>
          <a:xfrm>
            <a:off x="6126480" y="2120901"/>
            <a:ext cx="4320995" cy="3240746"/>
          </a:xfrm>
          <a:prstGeom prst="rect">
            <a:avLst/>
          </a:prstGeom>
        </p:spPr>
      </p:pic>
    </p:spTree>
    <p:extLst>
      <p:ext uri="{BB962C8B-B14F-4D97-AF65-F5344CB8AC3E}">
        <p14:creationId xmlns:p14="http://schemas.microsoft.com/office/powerpoint/2010/main" val="3746062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13B8-B20F-2135-726E-9D25493CC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69616-F7FF-9FB7-A82B-A896C1679EE8}"/>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F5FE0290-1D3E-F849-A428-B0E9038B36C9}"/>
              </a:ext>
            </a:extLst>
          </p:cNvPr>
          <p:cNvSpPr>
            <a:spLocks noGrp="1"/>
          </p:cNvSpPr>
          <p:nvPr>
            <p:ph sz="half" idx="1"/>
          </p:nvPr>
        </p:nvSpPr>
        <p:spPr>
          <a:xfrm>
            <a:off x="1097280" y="2120901"/>
            <a:ext cx="4639736" cy="514724"/>
          </a:xfrm>
        </p:spPr>
        <p:txBody>
          <a:bodyPr>
            <a:normAutofit/>
          </a:bodyPr>
          <a:lstStyle/>
          <a:p>
            <a:r>
              <a:rPr lang="en-US" b="1" dirty="0"/>
              <a:t>Industry type:</a:t>
            </a:r>
          </a:p>
        </p:txBody>
      </p:sp>
      <p:graphicFrame>
        <p:nvGraphicFramePr>
          <p:cNvPr id="12" name="Content Placeholder 11">
            <a:extLst>
              <a:ext uri="{FF2B5EF4-FFF2-40B4-BE49-F238E27FC236}">
                <a16:creationId xmlns:a16="http://schemas.microsoft.com/office/drawing/2014/main" id="{0C547995-12E3-9649-ECAC-EF96BDFB447B}"/>
              </a:ext>
            </a:extLst>
          </p:cNvPr>
          <p:cNvGraphicFramePr>
            <a:graphicFrameLocks noGrp="1"/>
          </p:cNvGraphicFramePr>
          <p:nvPr>
            <p:ph sz="half" idx="2"/>
            <p:extLst>
              <p:ext uri="{D42A27DB-BD31-4B8C-83A1-F6EECF244321}">
                <p14:modId xmlns:p14="http://schemas.microsoft.com/office/powerpoint/2010/main" val="2271056246"/>
              </p:ext>
            </p:extLst>
          </p:nvPr>
        </p:nvGraphicFramePr>
        <p:xfrm>
          <a:off x="1098341" y="2762176"/>
          <a:ext cx="4638675" cy="111252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algn="ctr" fontAlgn="t">
                        <a:buNone/>
                      </a:pPr>
                      <a:r>
                        <a:rPr lang="en-US" sz="1900" b="1" kern="1200" dirty="0" err="1">
                          <a:solidFill>
                            <a:schemeClr val="tx1">
                              <a:lumMod val="75000"/>
                              <a:lumOff val="25000"/>
                            </a:schemeClr>
                          </a:solidFill>
                          <a:latin typeface="+mn-lt"/>
                          <a:ea typeface="+mn-ea"/>
                          <a:cs typeface="+mn-cs"/>
                        </a:rPr>
                        <a:t>industry_type</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algn="ctr" fontAlgn="t">
                        <a:buNone/>
                      </a:pPr>
                      <a:r>
                        <a:rPr lang="en-US" sz="1900" b="1" kern="1200">
                          <a:solidFill>
                            <a:schemeClr val="tx1">
                              <a:lumMod val="75000"/>
                              <a:lumOff val="25000"/>
                            </a:schemeClr>
                          </a:solidFill>
                          <a:latin typeface="+mn-lt"/>
                          <a:ea typeface="+mn-ea"/>
                          <a:cs typeface="+mn-cs"/>
                        </a:rPr>
                        <a:t>Count</a:t>
                      </a:r>
                    </a:p>
                  </a:txBody>
                  <a:tcPr marL="68580" marR="68580" marT="0" marB="0"/>
                </a:tc>
                <a:tc>
                  <a:txBody>
                    <a:bodyPr/>
                    <a:lstStyle/>
                    <a:p>
                      <a:pPr algn="ctr" fontAlgn="t">
                        <a:buNone/>
                      </a:pPr>
                      <a:r>
                        <a:rPr lang="en-US" sz="1900" b="1" kern="120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Industry A</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50</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3863068190"/>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Other industries</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50</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626304520"/>
                  </a:ext>
                </a:extLst>
              </a:tr>
            </a:tbl>
          </a:graphicData>
        </a:graphic>
      </p:graphicFrame>
      <p:pic>
        <p:nvPicPr>
          <p:cNvPr id="4" name="Picture 3">
            <a:extLst>
              <a:ext uri="{FF2B5EF4-FFF2-40B4-BE49-F238E27FC236}">
                <a16:creationId xmlns:a16="http://schemas.microsoft.com/office/drawing/2014/main" id="{BFA030A3-2060-5C4F-D54C-925239B93AEC}"/>
              </a:ext>
            </a:extLst>
          </p:cNvPr>
          <p:cNvPicPr>
            <a:picLocks noChangeAspect="1"/>
          </p:cNvPicPr>
          <p:nvPr/>
        </p:nvPicPr>
        <p:blipFill>
          <a:blip r:embed="rId3"/>
          <a:stretch>
            <a:fillRect/>
          </a:stretch>
        </p:blipFill>
        <p:spPr>
          <a:xfrm>
            <a:off x="6132258" y="2094006"/>
            <a:ext cx="4481955" cy="3361466"/>
          </a:xfrm>
          <a:prstGeom prst="rect">
            <a:avLst/>
          </a:prstGeom>
        </p:spPr>
      </p:pic>
    </p:spTree>
    <p:extLst>
      <p:ext uri="{BB962C8B-B14F-4D97-AF65-F5344CB8AC3E}">
        <p14:creationId xmlns:p14="http://schemas.microsoft.com/office/powerpoint/2010/main" val="2674229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A3E48-05F8-8A6A-2B1B-B5C99DE91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CF8C3-AAE9-B880-F7F2-C1D5BF9399EF}"/>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26A39485-7DCE-D523-461F-AA23DC35019C}"/>
              </a:ext>
            </a:extLst>
          </p:cNvPr>
          <p:cNvSpPr>
            <a:spLocks noGrp="1"/>
          </p:cNvSpPr>
          <p:nvPr>
            <p:ph sz="half" idx="1"/>
          </p:nvPr>
        </p:nvSpPr>
        <p:spPr>
          <a:xfrm>
            <a:off x="1097280" y="2120901"/>
            <a:ext cx="4639736" cy="514724"/>
          </a:xfrm>
        </p:spPr>
        <p:txBody>
          <a:bodyPr>
            <a:normAutofit/>
          </a:bodyPr>
          <a:lstStyle/>
          <a:p>
            <a:r>
              <a:rPr lang="en-US" b="1" dirty="0"/>
              <a:t>Buying situation:</a:t>
            </a:r>
          </a:p>
        </p:txBody>
      </p:sp>
      <p:graphicFrame>
        <p:nvGraphicFramePr>
          <p:cNvPr id="12" name="Content Placeholder 11">
            <a:extLst>
              <a:ext uri="{FF2B5EF4-FFF2-40B4-BE49-F238E27FC236}">
                <a16:creationId xmlns:a16="http://schemas.microsoft.com/office/drawing/2014/main" id="{04262E80-810C-757F-59AA-03D4CC3EEF29}"/>
              </a:ext>
            </a:extLst>
          </p:cNvPr>
          <p:cNvGraphicFramePr>
            <a:graphicFrameLocks noGrp="1"/>
          </p:cNvGraphicFramePr>
          <p:nvPr>
            <p:ph sz="half" idx="2"/>
            <p:extLst>
              <p:ext uri="{D42A27DB-BD31-4B8C-83A1-F6EECF244321}">
                <p14:modId xmlns:p14="http://schemas.microsoft.com/office/powerpoint/2010/main" val="3811961911"/>
              </p:ext>
            </p:extLst>
          </p:nvPr>
        </p:nvGraphicFramePr>
        <p:xfrm>
          <a:off x="1098341" y="2762176"/>
          <a:ext cx="4638675" cy="148336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algn="ctr" fontAlgn="t">
                        <a:buNone/>
                      </a:pPr>
                      <a:r>
                        <a:rPr lang="en-US" sz="1900" b="1" kern="1200" dirty="0" err="1">
                          <a:solidFill>
                            <a:schemeClr val="tx1">
                              <a:lumMod val="75000"/>
                              <a:lumOff val="25000"/>
                            </a:schemeClr>
                          </a:solidFill>
                          <a:latin typeface="+mn-lt"/>
                          <a:ea typeface="+mn-ea"/>
                          <a:cs typeface="+mn-cs"/>
                        </a:rPr>
                        <a:t>buying_situation</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algn="ctr" fontAlgn="t">
                        <a:buNone/>
                      </a:pPr>
                      <a:r>
                        <a:rPr lang="en-US" sz="1900" b="1" kern="1200" dirty="0">
                          <a:solidFill>
                            <a:schemeClr val="tx1">
                              <a:lumMod val="75000"/>
                              <a:lumOff val="25000"/>
                            </a:schemeClr>
                          </a:solidFill>
                          <a:latin typeface="+mn-lt"/>
                          <a:ea typeface="+mn-ea"/>
                          <a:cs typeface="+mn-cs"/>
                        </a:rPr>
                        <a:t>Count</a:t>
                      </a:r>
                    </a:p>
                  </a:txBody>
                  <a:tcPr marL="68580" marR="68580" marT="0" marB="0"/>
                </a:tc>
                <a:tc>
                  <a:txBody>
                    <a:bodyPr/>
                    <a:lstStyle/>
                    <a:p>
                      <a:pPr algn="ctr" fontAlgn="t">
                        <a:buNone/>
                      </a:pPr>
                      <a:r>
                        <a:rPr lang="en-US" sz="1900" b="1" kern="120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New task</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34</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34</a:t>
                      </a:r>
                    </a:p>
                  </a:txBody>
                  <a:tcPr marL="68580" marR="68580" marT="0" marB="0" anchor="b"/>
                </a:tc>
                <a:extLst>
                  <a:ext uri="{0D108BD9-81ED-4DB2-BD59-A6C34878D82A}">
                    <a16:rowId xmlns:a16="http://schemas.microsoft.com/office/drawing/2014/main" val="3863068190"/>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Modified re-buy</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32</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32</a:t>
                      </a:r>
                    </a:p>
                  </a:txBody>
                  <a:tcPr marL="68580" marR="68580" marT="0" marB="0" anchor="b"/>
                </a:tc>
                <a:extLst>
                  <a:ext uri="{0D108BD9-81ED-4DB2-BD59-A6C34878D82A}">
                    <a16:rowId xmlns:a16="http://schemas.microsoft.com/office/drawing/2014/main" val="626304520"/>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Straight re-buy</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34</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34</a:t>
                      </a:r>
                    </a:p>
                  </a:txBody>
                  <a:tcPr marL="68580" marR="68580" marT="0" marB="0" anchor="b"/>
                </a:tc>
                <a:extLst>
                  <a:ext uri="{0D108BD9-81ED-4DB2-BD59-A6C34878D82A}">
                    <a16:rowId xmlns:a16="http://schemas.microsoft.com/office/drawing/2014/main" val="3305614176"/>
                  </a:ext>
                </a:extLst>
              </a:tr>
            </a:tbl>
          </a:graphicData>
        </a:graphic>
      </p:graphicFrame>
      <p:pic>
        <p:nvPicPr>
          <p:cNvPr id="5" name="Picture 4">
            <a:extLst>
              <a:ext uri="{FF2B5EF4-FFF2-40B4-BE49-F238E27FC236}">
                <a16:creationId xmlns:a16="http://schemas.microsoft.com/office/drawing/2014/main" id="{1DCA6339-A33B-4704-91C4-6C1C421BC817}"/>
              </a:ext>
            </a:extLst>
          </p:cNvPr>
          <p:cNvPicPr>
            <a:picLocks noChangeAspect="1"/>
          </p:cNvPicPr>
          <p:nvPr/>
        </p:nvPicPr>
        <p:blipFill>
          <a:blip r:embed="rId3"/>
          <a:stretch>
            <a:fillRect/>
          </a:stretch>
        </p:blipFill>
        <p:spPr>
          <a:xfrm>
            <a:off x="6096000" y="2120901"/>
            <a:ext cx="4548251" cy="3396794"/>
          </a:xfrm>
          <a:prstGeom prst="rect">
            <a:avLst/>
          </a:prstGeom>
        </p:spPr>
      </p:pic>
    </p:spTree>
    <p:extLst>
      <p:ext uri="{BB962C8B-B14F-4D97-AF65-F5344CB8AC3E}">
        <p14:creationId xmlns:p14="http://schemas.microsoft.com/office/powerpoint/2010/main" val="3501794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5A635-36CA-7F6C-B773-669B6482E4A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BF1CF50-8326-986A-3AE4-29D055401BFD}"/>
              </a:ext>
            </a:extLst>
          </p:cNvPr>
          <p:cNvSpPr>
            <a:spLocks noGrp="1"/>
          </p:cNvSpPr>
          <p:nvPr>
            <p:ph type="pic" idx="1"/>
          </p:nvPr>
        </p:nvSpPr>
        <p:spPr/>
      </p:sp>
      <p:sp>
        <p:nvSpPr>
          <p:cNvPr id="3" name="Title 2">
            <a:extLst>
              <a:ext uri="{FF2B5EF4-FFF2-40B4-BE49-F238E27FC236}">
                <a16:creationId xmlns:a16="http://schemas.microsoft.com/office/drawing/2014/main" id="{F3764633-D32C-54C6-D33F-819FF201ECEE}"/>
              </a:ext>
            </a:extLst>
          </p:cNvPr>
          <p:cNvSpPr>
            <a:spLocks noGrp="1"/>
          </p:cNvSpPr>
          <p:nvPr>
            <p:ph type="title"/>
          </p:nvPr>
        </p:nvSpPr>
        <p:spPr>
          <a:xfrm>
            <a:off x="1097279" y="868217"/>
            <a:ext cx="10113645" cy="1996280"/>
          </a:xfrm>
        </p:spPr>
        <p:txBody>
          <a:bodyPr/>
          <a:lstStyle/>
          <a:p>
            <a:r>
              <a:rPr lang="en-US" sz="4000" dirty="0">
                <a:solidFill>
                  <a:schemeClr val="tx1"/>
                </a:solidFill>
              </a:rPr>
              <a:t>Section (2): </a:t>
            </a:r>
            <a:br>
              <a:rPr lang="en-US" sz="4000" dirty="0">
                <a:solidFill>
                  <a:schemeClr val="tx1"/>
                </a:solidFill>
              </a:rPr>
            </a:br>
            <a:r>
              <a:rPr lang="en-US" sz="4000" dirty="0">
                <a:solidFill>
                  <a:schemeClr val="tx1"/>
                </a:solidFill>
              </a:rPr>
              <a:t>Data Visualization and Descriptive Measures</a:t>
            </a:r>
          </a:p>
        </p:txBody>
      </p:sp>
      <p:sp>
        <p:nvSpPr>
          <p:cNvPr id="4" name="Text Placeholder 3">
            <a:extLst>
              <a:ext uri="{FF2B5EF4-FFF2-40B4-BE49-F238E27FC236}">
                <a16:creationId xmlns:a16="http://schemas.microsoft.com/office/drawing/2014/main" id="{338D0734-1286-3FB7-C99F-04FC9BAC9853}"/>
              </a:ext>
            </a:extLst>
          </p:cNvPr>
          <p:cNvSpPr>
            <a:spLocks noGrp="1"/>
          </p:cNvSpPr>
          <p:nvPr>
            <p:ph type="body" sz="half" idx="2"/>
          </p:nvPr>
        </p:nvSpPr>
        <p:spPr>
          <a:xfrm>
            <a:off x="1097279" y="4920677"/>
            <a:ext cx="10113264" cy="609600"/>
          </a:xfrm>
        </p:spPr>
        <p:txBody>
          <a:bodyPr>
            <a:normAutofit/>
          </a:bodyPr>
          <a:lstStyle/>
          <a:p>
            <a:pPr algn="ctr"/>
            <a:endParaRPr lang="en-US" sz="2800" b="1" dirty="0">
              <a:solidFill>
                <a:schemeClr val="accent3">
                  <a:lumMod val="75000"/>
                </a:schemeClr>
              </a:solidFill>
              <a:latin typeface="+mj-lt"/>
            </a:endParaRPr>
          </a:p>
        </p:txBody>
      </p:sp>
    </p:spTree>
    <p:extLst>
      <p:ext uri="{BB962C8B-B14F-4D97-AF65-F5344CB8AC3E}">
        <p14:creationId xmlns:p14="http://schemas.microsoft.com/office/powerpoint/2010/main" val="189821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A9A4-A2F7-EACA-7734-77DF1DF75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7FCBC-0AF3-CE9E-1C3B-965B714A9567}"/>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1C113B86-6E2E-B3F9-FFEC-7C2537BE891D}"/>
              </a:ext>
            </a:extLst>
          </p:cNvPr>
          <p:cNvSpPr>
            <a:spLocks noGrp="1"/>
          </p:cNvSpPr>
          <p:nvPr>
            <p:ph sz="half" idx="1"/>
          </p:nvPr>
        </p:nvSpPr>
        <p:spPr>
          <a:xfrm>
            <a:off x="1097280" y="2120900"/>
            <a:ext cx="10058400" cy="487829"/>
          </a:xfrm>
        </p:spPr>
        <p:txBody>
          <a:bodyPr>
            <a:normAutofit/>
          </a:bodyPr>
          <a:lstStyle/>
          <a:p>
            <a:r>
              <a:rPr lang="en-US" b="1" dirty="0"/>
              <a:t>Dataset Descriptive Measures:</a:t>
            </a:r>
          </a:p>
        </p:txBody>
      </p:sp>
      <p:graphicFrame>
        <p:nvGraphicFramePr>
          <p:cNvPr id="6" name="Content Placeholder 5">
            <a:extLst>
              <a:ext uri="{FF2B5EF4-FFF2-40B4-BE49-F238E27FC236}">
                <a16:creationId xmlns:a16="http://schemas.microsoft.com/office/drawing/2014/main" id="{A7BC1871-7DB3-CD65-F378-AC5552676F90}"/>
              </a:ext>
            </a:extLst>
          </p:cNvPr>
          <p:cNvGraphicFramePr>
            <a:graphicFrameLocks noGrp="1"/>
          </p:cNvGraphicFramePr>
          <p:nvPr>
            <p:ph sz="half" idx="2"/>
            <p:extLst>
              <p:ext uri="{D42A27DB-BD31-4B8C-83A1-F6EECF244321}">
                <p14:modId xmlns:p14="http://schemas.microsoft.com/office/powerpoint/2010/main" val="424725890"/>
              </p:ext>
            </p:extLst>
          </p:nvPr>
        </p:nvGraphicFramePr>
        <p:xfrm>
          <a:off x="1096956" y="2476499"/>
          <a:ext cx="9882409" cy="3220570"/>
        </p:xfrm>
        <a:graphic>
          <a:graphicData uri="http://schemas.openxmlformats.org/drawingml/2006/table">
            <a:tbl>
              <a:tblPr firstRow="1" bandRow="1">
                <a:tableStyleId>{5C22544A-7EE6-4342-B048-85BDC9FD1C3A}</a:tableStyleId>
              </a:tblPr>
              <a:tblGrid>
                <a:gridCol w="1422126">
                  <a:extLst>
                    <a:ext uri="{9D8B030D-6E8A-4147-A177-3AD203B41FA5}">
                      <a16:colId xmlns:a16="http://schemas.microsoft.com/office/drawing/2014/main" val="1264565203"/>
                    </a:ext>
                  </a:extLst>
                </a:gridCol>
                <a:gridCol w="684283">
                  <a:extLst>
                    <a:ext uri="{9D8B030D-6E8A-4147-A177-3AD203B41FA5}">
                      <a16:colId xmlns:a16="http://schemas.microsoft.com/office/drawing/2014/main" val="352649301"/>
                    </a:ext>
                  </a:extLst>
                </a:gridCol>
                <a:gridCol w="936000">
                  <a:extLst>
                    <a:ext uri="{9D8B030D-6E8A-4147-A177-3AD203B41FA5}">
                      <a16:colId xmlns:a16="http://schemas.microsoft.com/office/drawing/2014/main" val="80176607"/>
                    </a:ext>
                  </a:extLst>
                </a:gridCol>
                <a:gridCol w="936000">
                  <a:extLst>
                    <a:ext uri="{9D8B030D-6E8A-4147-A177-3AD203B41FA5}">
                      <a16:colId xmlns:a16="http://schemas.microsoft.com/office/drawing/2014/main" val="687605175"/>
                    </a:ext>
                  </a:extLst>
                </a:gridCol>
                <a:gridCol w="936000">
                  <a:extLst>
                    <a:ext uri="{9D8B030D-6E8A-4147-A177-3AD203B41FA5}">
                      <a16:colId xmlns:a16="http://schemas.microsoft.com/office/drawing/2014/main" val="2637151416"/>
                    </a:ext>
                  </a:extLst>
                </a:gridCol>
                <a:gridCol w="756000">
                  <a:extLst>
                    <a:ext uri="{9D8B030D-6E8A-4147-A177-3AD203B41FA5}">
                      <a16:colId xmlns:a16="http://schemas.microsoft.com/office/drawing/2014/main" val="4040187060"/>
                    </a:ext>
                  </a:extLst>
                </a:gridCol>
                <a:gridCol w="756000">
                  <a:extLst>
                    <a:ext uri="{9D8B030D-6E8A-4147-A177-3AD203B41FA5}">
                      <a16:colId xmlns:a16="http://schemas.microsoft.com/office/drawing/2014/main" val="1830387309"/>
                    </a:ext>
                  </a:extLst>
                </a:gridCol>
                <a:gridCol w="756000">
                  <a:extLst>
                    <a:ext uri="{9D8B030D-6E8A-4147-A177-3AD203B41FA5}">
                      <a16:colId xmlns:a16="http://schemas.microsoft.com/office/drawing/2014/main" val="1888046926"/>
                    </a:ext>
                  </a:extLst>
                </a:gridCol>
                <a:gridCol w="900000">
                  <a:extLst>
                    <a:ext uri="{9D8B030D-6E8A-4147-A177-3AD203B41FA5}">
                      <a16:colId xmlns:a16="http://schemas.microsoft.com/office/drawing/2014/main" val="3984221791"/>
                    </a:ext>
                  </a:extLst>
                </a:gridCol>
                <a:gridCol w="900000">
                  <a:extLst>
                    <a:ext uri="{9D8B030D-6E8A-4147-A177-3AD203B41FA5}">
                      <a16:colId xmlns:a16="http://schemas.microsoft.com/office/drawing/2014/main" val="975242596"/>
                    </a:ext>
                  </a:extLst>
                </a:gridCol>
                <a:gridCol w="900000">
                  <a:extLst>
                    <a:ext uri="{9D8B030D-6E8A-4147-A177-3AD203B41FA5}">
                      <a16:colId xmlns:a16="http://schemas.microsoft.com/office/drawing/2014/main" val="983779331"/>
                    </a:ext>
                  </a:extLst>
                </a:gridCol>
              </a:tblGrid>
              <a:tr h="322057">
                <a:tc>
                  <a:txBody>
                    <a:bodyPr/>
                    <a:lstStyle/>
                    <a:p>
                      <a:pPr>
                        <a:buNone/>
                      </a:pPr>
                      <a:r>
                        <a:rPr lang="en-US" sz="1100" dirty="0">
                          <a:solidFill>
                            <a:srgbClr val="000000"/>
                          </a:solidFill>
                          <a:effectLst/>
                          <a:latin typeface="Times New Roman" panose="02020603050405020304" pitchFamily="18" charset="0"/>
                          <a:ea typeface="DengXian" panose="02010600030101010101" pitchFamily="2" charset="-122"/>
                          <a:cs typeface="SimSun" panose="02010600030101010101" pitchFamily="2" charset="-122"/>
                        </a:rPr>
                        <a:t> </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count</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mean</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std</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min</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75%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max</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range</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IQR</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432783066"/>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delivery_speed</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3.515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1.320726384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6.1</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6.1</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897534283"/>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price_level</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2.364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1.195658814</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1.475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2.15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3.225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5.4</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1.75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1500958702"/>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price_flexibility</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7.894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1.38650203</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6.7</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8.05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9.1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545324777"/>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manufacturer_image</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5.248</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1.131413704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4.575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5.7</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1.425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1868585465"/>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service_level</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2.916</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0.751257532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0.7</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2.4</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3.425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3.9</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214039838"/>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salesforce_image</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2.665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0.770854832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2.2</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0.8</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028580768"/>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product_quality</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6.971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1.585240956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3.7</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5.8</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7.15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8.325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6.3</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958665775"/>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usage_level</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8.988769649</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39</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53.25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14.25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2711787527"/>
                  </a:ext>
                </a:extLst>
              </a:tr>
              <a:tr h="322057">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satisfaction</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4.771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0.855557589</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3.2</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4.1</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4.85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6.8</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3.6</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1.3</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273459421"/>
                  </a:ext>
                </a:extLst>
              </a:tr>
            </a:tbl>
          </a:graphicData>
        </a:graphic>
      </p:graphicFrame>
    </p:spTree>
    <p:extLst>
      <p:ext uri="{BB962C8B-B14F-4D97-AF65-F5344CB8AC3E}">
        <p14:creationId xmlns:p14="http://schemas.microsoft.com/office/powerpoint/2010/main" val="3644289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887A7-3096-F847-A4FF-73C4531E5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93943-8412-BFE8-50D9-538498D81B58}"/>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8EEB310F-F65C-885C-2D55-5D5667CFE64F}"/>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delivery speed the mean is 3.515 and median is 3.4  so there is slight positive skew, the standard deviation is  1.32 which indicates moderate dispersion (coefficient of variation 37.5%), the minimum is 0 hours which is logistically impossible the max is 6.1 hours which is acceptable , the IQR is 2.1 so 50% of the data lies in the area of 3.4±1.05, we can tell the customer to expect their delivery in 3.5±1.3 hours .</a:t>
            </a:r>
            <a:endParaRPr lang="en-US" b="1" dirty="0"/>
          </a:p>
          <a:p>
            <a:endParaRPr lang="en-US" b="1" dirty="0"/>
          </a:p>
        </p:txBody>
      </p:sp>
      <p:pic>
        <p:nvPicPr>
          <p:cNvPr id="5" name="Content Placeholder 4" descr="Figure_06_delivery_speed">
            <a:extLst>
              <a:ext uri="{FF2B5EF4-FFF2-40B4-BE49-F238E27FC236}">
                <a16:creationId xmlns:a16="http://schemas.microsoft.com/office/drawing/2014/main" id="{0219EDA8-EE87-2531-98D7-3395D3323639}"/>
              </a:ext>
            </a:extLst>
          </p:cNvPr>
          <p:cNvPicPr>
            <a:picLocks noGrp="1"/>
          </p:cNvPicPr>
          <p:nvPr>
            <p:ph sz="half" idx="2"/>
          </p:nvPr>
        </p:nvPicPr>
        <p:blipFill>
          <a:blip r:embed="rId3" cstate="print"/>
          <a:srcRect/>
          <a:stretch/>
        </p:blipFill>
        <p:spPr>
          <a:xfrm>
            <a:off x="5853906" y="2120900"/>
            <a:ext cx="4997450" cy="3748088"/>
          </a:xfrm>
          <a:prstGeom prst="rect">
            <a:avLst/>
          </a:prstGeom>
        </p:spPr>
      </p:pic>
    </p:spTree>
    <p:extLst>
      <p:ext uri="{BB962C8B-B14F-4D97-AF65-F5344CB8AC3E}">
        <p14:creationId xmlns:p14="http://schemas.microsoft.com/office/powerpoint/2010/main" val="3831323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6D12B-FD0C-3119-331E-6FC4397E2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2FE5C-19B4-399F-5097-8C33E2C3BB7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B5DACC47-11A9-F000-ABB8-BD1EAAF4A218}"/>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price level the mean is 2.364 and the median is 2.15, so there is a positive skew. The standard deviation is 1.196, which indicates high dispersion as the coefficient of variation is 50.59%. The minimum is 0.2, the max is 5.4, and the IQR is 1.75, so 50% of the data lies in the area of 2.15 ± 0.875. We can tell management that most of the clients price evaluation fall in range  2.364 ± 1.196 which is good that the clients see that the price isn't high.</a:t>
            </a:r>
            <a:endParaRPr lang="en-US" b="1" dirty="0"/>
          </a:p>
        </p:txBody>
      </p:sp>
      <p:pic>
        <p:nvPicPr>
          <p:cNvPr id="7" name="Content Placeholder 6" descr="Figure_07_price_level">
            <a:extLst>
              <a:ext uri="{FF2B5EF4-FFF2-40B4-BE49-F238E27FC236}">
                <a16:creationId xmlns:a16="http://schemas.microsoft.com/office/drawing/2014/main" id="{4DAE7BD9-3369-E039-83EC-235164049975}"/>
              </a:ext>
            </a:extLst>
          </p:cNvPr>
          <p:cNvPicPr>
            <a:picLocks noGrp="1"/>
          </p:cNvPicPr>
          <p:nvPr>
            <p:ph sz="half" idx="2"/>
          </p:nvPr>
        </p:nvPicPr>
        <p:blipFill>
          <a:blip r:embed="rId3" cstate="print"/>
          <a:srcRect/>
          <a:stretch/>
        </p:blipFill>
        <p:spPr>
          <a:xfrm>
            <a:off x="5875284" y="2255441"/>
            <a:ext cx="5280080" cy="3479006"/>
          </a:xfrm>
          <a:prstGeom prst="rect">
            <a:avLst/>
          </a:prstGeom>
        </p:spPr>
      </p:pic>
    </p:spTree>
    <p:extLst>
      <p:ext uri="{BB962C8B-B14F-4D97-AF65-F5344CB8AC3E}">
        <p14:creationId xmlns:p14="http://schemas.microsoft.com/office/powerpoint/2010/main" val="2495536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6C93-C4BC-62D7-253A-975E0A054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3A458-DB49-3052-C753-A1EF9A5174B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F391ABFD-6E80-FCE3-C8A9-266668670921}"/>
              </a:ext>
            </a:extLst>
          </p:cNvPr>
          <p:cNvSpPr>
            <a:spLocks noGrp="1"/>
          </p:cNvSpPr>
          <p:nvPr>
            <p:ph sz="half" idx="1"/>
          </p:nvPr>
        </p:nvSpPr>
        <p:spPr>
          <a:xfrm>
            <a:off x="1097281" y="2120900"/>
            <a:ext cx="3985708" cy="3748194"/>
          </a:xfrm>
        </p:spPr>
        <p:txBody>
          <a:bodyPr>
            <a:normAutofit fontScale="92500"/>
          </a:bodyPr>
          <a:lstStyle/>
          <a:p>
            <a:r>
              <a:rPr lang="en-US" b="1" dirty="0"/>
              <a:t>Visualization:</a:t>
            </a:r>
            <a:br>
              <a:rPr lang="en-US" b="1" dirty="0"/>
            </a:br>
            <a:br>
              <a:rPr lang="en-US" b="1" dirty="0"/>
            </a:br>
            <a:r>
              <a:rPr lang="en-US" dirty="0"/>
              <a:t>For the price flexibility the mean is 7.894 and median is 8.05, so there is a slight negative skew. The standard deviation is 1.387, which indicates low dispersion as the coefficient of variation is 17.57%. The minimum is 5, the max is 10, and the IQR is 2.4, so 50% of the data lies in the area of 8.05 ± 1.2. We can tell that the sales team is likely to negotiate and is flexible with the pricing.</a:t>
            </a:r>
          </a:p>
        </p:txBody>
      </p:sp>
      <p:pic>
        <p:nvPicPr>
          <p:cNvPr id="6" name="Content Placeholder 5" descr="Figure_08_price_flexibility">
            <a:extLst>
              <a:ext uri="{FF2B5EF4-FFF2-40B4-BE49-F238E27FC236}">
                <a16:creationId xmlns:a16="http://schemas.microsoft.com/office/drawing/2014/main" id="{625275C1-8D74-FCAF-4130-435C37B020DC}"/>
              </a:ext>
            </a:extLst>
          </p:cNvPr>
          <p:cNvPicPr>
            <a:picLocks noGrp="1"/>
          </p:cNvPicPr>
          <p:nvPr>
            <p:ph sz="half" idx="2"/>
          </p:nvPr>
        </p:nvPicPr>
        <p:blipFill>
          <a:blip r:embed="rId3" cstate="print"/>
          <a:srcRect/>
          <a:stretch/>
        </p:blipFill>
        <p:spPr>
          <a:xfrm>
            <a:off x="5696608" y="2255441"/>
            <a:ext cx="5458756" cy="3479006"/>
          </a:xfrm>
          <a:prstGeom prst="rect">
            <a:avLst/>
          </a:prstGeom>
        </p:spPr>
      </p:pic>
    </p:spTree>
    <p:extLst>
      <p:ext uri="{BB962C8B-B14F-4D97-AF65-F5344CB8AC3E}">
        <p14:creationId xmlns:p14="http://schemas.microsoft.com/office/powerpoint/2010/main" val="252692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9E499-CE43-D3D3-8777-32C821460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3441F-3C67-CEAA-019B-8F5F8CDA71DA}"/>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7CE0DD57-C8E5-4A66-3B47-4999238A4526}"/>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manufacturer image the mean is 5.248 and the median is 5, so there is a slight positive skew. The standard deviation is 1.131, which indicates low dispersion as the coefficient of variation is 21.55%.</a:t>
            </a:r>
            <a:br>
              <a:rPr lang="en-US" dirty="0"/>
            </a:br>
            <a:r>
              <a:rPr lang="en-US" dirty="0"/>
              <a:t>The minimum is 2.5, the max is 8.2, and the IQR is 1.425, so 50% of the data lies in the area of 5 ± 0.713. We can tell company that its image is around 5.248 ± 1.131 on the rating scale which needs improvement.</a:t>
            </a:r>
          </a:p>
        </p:txBody>
      </p:sp>
      <p:pic>
        <p:nvPicPr>
          <p:cNvPr id="5" name="Content Placeholder 4" descr="Figure_09_manufacturer_image">
            <a:extLst>
              <a:ext uri="{FF2B5EF4-FFF2-40B4-BE49-F238E27FC236}">
                <a16:creationId xmlns:a16="http://schemas.microsoft.com/office/drawing/2014/main" id="{842BCAC8-0779-E41D-47E2-A8AE66829BF6}"/>
              </a:ext>
            </a:extLst>
          </p:cNvPr>
          <p:cNvPicPr>
            <a:picLocks noGrp="1"/>
          </p:cNvPicPr>
          <p:nvPr>
            <p:ph sz="half" idx="2"/>
          </p:nvPr>
        </p:nvPicPr>
        <p:blipFill>
          <a:blip r:embed="rId3" cstate="print"/>
          <a:srcRect/>
          <a:stretch/>
        </p:blipFill>
        <p:spPr>
          <a:xfrm>
            <a:off x="5780690" y="2120900"/>
            <a:ext cx="5110354" cy="3748088"/>
          </a:xfrm>
          <a:prstGeom prst="rect">
            <a:avLst/>
          </a:prstGeom>
        </p:spPr>
      </p:pic>
    </p:spTree>
    <p:extLst>
      <p:ext uri="{BB962C8B-B14F-4D97-AF65-F5344CB8AC3E}">
        <p14:creationId xmlns:p14="http://schemas.microsoft.com/office/powerpoint/2010/main" val="3542373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91CA-A571-4BFA-F148-2157AC785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CC7E1-97F5-C243-7E23-450809E08849}"/>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83B99A6D-3C2C-787A-E204-7D1BD2030CF7}"/>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service level the mean is 2.916 and the median is 3, so there is a slight negative skew. The standard deviation is 0.751, which indicates moderate dispersion as the coefficient of variation is 25.75%.</a:t>
            </a:r>
            <a:br>
              <a:rPr lang="en-US" dirty="0"/>
            </a:br>
            <a:r>
              <a:rPr lang="en-US" dirty="0"/>
              <a:t>The minimum is 0.7 and the max is 4.6, the IQR is 1.025, so 50% of the data lies in the area of 3 ± 0.513. We can tell that most service satisfaction scores concentrate in 2.916 ± 0.751 on the </a:t>
            </a:r>
            <a:br>
              <a:rPr lang="en-US" dirty="0"/>
            </a:br>
            <a:r>
              <a:rPr lang="en-US" dirty="0"/>
              <a:t>(0-5) scale.</a:t>
            </a:r>
          </a:p>
        </p:txBody>
      </p:sp>
      <p:pic>
        <p:nvPicPr>
          <p:cNvPr id="6" name="Content Placeholder 5" descr="Figure_10_service_level">
            <a:extLst>
              <a:ext uri="{FF2B5EF4-FFF2-40B4-BE49-F238E27FC236}">
                <a16:creationId xmlns:a16="http://schemas.microsoft.com/office/drawing/2014/main" id="{80B21725-9976-08D8-9F83-C7F368292816}"/>
              </a:ext>
            </a:extLst>
          </p:cNvPr>
          <p:cNvPicPr>
            <a:picLocks noGrp="1"/>
          </p:cNvPicPr>
          <p:nvPr>
            <p:ph sz="half" idx="2"/>
          </p:nvPr>
        </p:nvPicPr>
        <p:blipFill>
          <a:blip r:embed="rId3" cstate="print"/>
          <a:srcRect/>
          <a:stretch/>
        </p:blipFill>
        <p:spPr>
          <a:xfrm>
            <a:off x="5843752" y="2255441"/>
            <a:ext cx="5311611" cy="3479006"/>
          </a:xfrm>
          <a:prstGeom prst="rect">
            <a:avLst/>
          </a:prstGeom>
        </p:spPr>
      </p:pic>
    </p:spTree>
    <p:extLst>
      <p:ext uri="{BB962C8B-B14F-4D97-AF65-F5344CB8AC3E}">
        <p14:creationId xmlns:p14="http://schemas.microsoft.com/office/powerpoint/2010/main" val="545036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FEF3-48A3-E654-2838-BA56CDDD9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D42C1-A4E0-CF5D-C130-71E349F5AA22}"/>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B9F23430-D07B-0880-D45D-BBEF4EDBA20D}"/>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service level the mean is 2.916 and the median is 3, so there is a slight negative skew. The standard deviation is 0.751, which indicates moderate dispersion as the coefficient of variation is 25.75%.</a:t>
            </a:r>
            <a:br>
              <a:rPr lang="en-US" dirty="0"/>
            </a:br>
            <a:r>
              <a:rPr lang="en-US" dirty="0"/>
              <a:t>The minimum is 0.7 and the max is 4.6, the IQR is 1.025, so 50% of the data lies in the area of 3 ± 0.513. We can tell that most service satisfaction scores concentrate in 2.916 ± 0.751 on the (0-5) scale.</a:t>
            </a:r>
            <a:endParaRPr lang="en-US" b="1" dirty="0"/>
          </a:p>
          <a:p>
            <a:endParaRPr lang="en-US" dirty="0"/>
          </a:p>
        </p:txBody>
      </p:sp>
      <p:pic>
        <p:nvPicPr>
          <p:cNvPr id="5" name="Content Placeholder 4" descr="Figure_11_salesforce_image">
            <a:extLst>
              <a:ext uri="{FF2B5EF4-FFF2-40B4-BE49-F238E27FC236}">
                <a16:creationId xmlns:a16="http://schemas.microsoft.com/office/drawing/2014/main" id="{7D9DF52D-F8F3-4D85-99D7-195B41FFDB9C}"/>
              </a:ext>
            </a:extLst>
          </p:cNvPr>
          <p:cNvPicPr>
            <a:picLocks noGrp="1"/>
          </p:cNvPicPr>
          <p:nvPr>
            <p:ph sz="half" idx="2"/>
          </p:nvPr>
        </p:nvPicPr>
        <p:blipFill>
          <a:blip r:embed="rId3" cstate="print"/>
          <a:srcRect/>
          <a:stretch/>
        </p:blipFill>
        <p:spPr>
          <a:xfrm>
            <a:off x="5800164" y="2255441"/>
            <a:ext cx="5355199" cy="3479006"/>
          </a:xfrm>
          <a:prstGeom prst="rect">
            <a:avLst/>
          </a:prstGeom>
        </p:spPr>
      </p:pic>
    </p:spTree>
    <p:extLst>
      <p:ext uri="{BB962C8B-B14F-4D97-AF65-F5344CB8AC3E}">
        <p14:creationId xmlns:p14="http://schemas.microsoft.com/office/powerpoint/2010/main" val="3710194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8A58-DD17-26F1-0D6B-F03FEEFF6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00F99-3710-6090-2CC2-19B408CF724A}"/>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C21621A5-AB06-7C1F-85DD-E7743DC7CBF7}"/>
              </a:ext>
            </a:extLst>
          </p:cNvPr>
          <p:cNvSpPr>
            <a:spLocks noGrp="1"/>
          </p:cNvSpPr>
          <p:nvPr>
            <p:ph sz="half" idx="1"/>
          </p:nvPr>
        </p:nvSpPr>
        <p:spPr>
          <a:xfrm>
            <a:off x="1097281" y="2120900"/>
            <a:ext cx="3985708" cy="3748194"/>
          </a:xfrm>
        </p:spPr>
        <p:txBody>
          <a:bodyPr>
            <a:normAutofit fontScale="85000" lnSpcReduction="20000"/>
          </a:bodyPr>
          <a:lstStyle/>
          <a:p>
            <a:r>
              <a:rPr lang="en-US" b="1" dirty="0"/>
              <a:t>Visualization:</a:t>
            </a:r>
            <a:br>
              <a:rPr lang="en-US" b="1" dirty="0"/>
            </a:br>
            <a:br>
              <a:rPr lang="en-US" b="1" dirty="0"/>
            </a:br>
            <a:r>
              <a:rPr lang="en-US" dirty="0"/>
              <a:t>For the product quality the mean is 6.971 and median is 7.15, so there is a slight negative skew. The standard deviation is 1.585, which indicates low-to-moderate dispersion as the coefficient of variation is 22.74%. </a:t>
            </a:r>
            <a:br>
              <a:rPr lang="en-US" dirty="0"/>
            </a:br>
            <a:r>
              <a:rPr lang="en-US" dirty="0"/>
              <a:t>The minimum is 3.7, the max is 10, and the IQR is 2.525, so 50% of the data lies in the area of 7.15 ± 1.263. We can inform company that quality performance clusters in 6.971 ± 1.585 on (0-10) scale which means that the clients perceive the product produced by designers and R&amp;D team as a good product.</a:t>
            </a:r>
          </a:p>
        </p:txBody>
      </p:sp>
      <p:pic>
        <p:nvPicPr>
          <p:cNvPr id="5" name="Content Placeholder 4" descr="Figure_12_product_quality">
            <a:extLst>
              <a:ext uri="{FF2B5EF4-FFF2-40B4-BE49-F238E27FC236}">
                <a16:creationId xmlns:a16="http://schemas.microsoft.com/office/drawing/2014/main" id="{C4C3188D-4E9C-1A85-FF2C-32B2852FEEEB}"/>
              </a:ext>
            </a:extLst>
          </p:cNvPr>
          <p:cNvPicPr>
            <a:picLocks noGrp="1"/>
          </p:cNvPicPr>
          <p:nvPr>
            <p:ph sz="half" idx="2"/>
          </p:nvPr>
        </p:nvPicPr>
        <p:blipFill>
          <a:blip r:embed="rId3" cstate="print"/>
          <a:srcRect/>
          <a:stretch/>
        </p:blipFill>
        <p:spPr>
          <a:xfrm>
            <a:off x="5707118" y="2255441"/>
            <a:ext cx="5448246" cy="3479006"/>
          </a:xfrm>
          <a:prstGeom prst="rect">
            <a:avLst/>
          </a:prstGeom>
        </p:spPr>
      </p:pic>
    </p:spTree>
    <p:extLst>
      <p:ext uri="{BB962C8B-B14F-4D97-AF65-F5344CB8AC3E}">
        <p14:creationId xmlns:p14="http://schemas.microsoft.com/office/powerpoint/2010/main" val="753723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8CD74-36E2-FFB9-A2FE-C38C59F90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A52BE-C122-BC75-27E6-A3726E9B482D}"/>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7B036B5F-1CC0-A05A-BBBB-FAED42378072}"/>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usage level the mean is 46.1 and median is 46.5, so there is a nearly symmetrical, very slight negative skew. The standard deviation is 8.989, which indicates low dispersion as the coefficient of variation is 19.50%. </a:t>
            </a:r>
            <a:br>
              <a:rPr lang="en-US" dirty="0"/>
            </a:br>
            <a:r>
              <a:rPr lang="en-US" dirty="0"/>
              <a:t>The minimum is 25, the max is 65, and the IQR is 14.25, so 50% of the data lies in the area of 46.5 ± 7.125. We can tell company that total purchase volume lies in 46.1% ± 8.989 which leaves room foe improvement.</a:t>
            </a:r>
          </a:p>
        </p:txBody>
      </p:sp>
      <p:pic>
        <p:nvPicPr>
          <p:cNvPr id="6" name="Content Placeholder 5" descr="Figure_13_usage_level">
            <a:extLst>
              <a:ext uri="{FF2B5EF4-FFF2-40B4-BE49-F238E27FC236}">
                <a16:creationId xmlns:a16="http://schemas.microsoft.com/office/drawing/2014/main" id="{26CD6A07-6EDC-0B10-FA82-237FAFDB6AEC}"/>
              </a:ext>
            </a:extLst>
          </p:cNvPr>
          <p:cNvPicPr>
            <a:picLocks noGrp="1"/>
          </p:cNvPicPr>
          <p:nvPr>
            <p:ph sz="half" idx="2"/>
          </p:nvPr>
        </p:nvPicPr>
        <p:blipFill>
          <a:blip r:embed="rId3" cstate="print"/>
          <a:srcRect/>
          <a:stretch/>
        </p:blipFill>
        <p:spPr>
          <a:xfrm>
            <a:off x="5665694" y="2255441"/>
            <a:ext cx="5489669" cy="3479006"/>
          </a:xfrm>
          <a:prstGeom prst="rect">
            <a:avLst/>
          </a:prstGeom>
        </p:spPr>
      </p:pic>
    </p:spTree>
    <p:extLst>
      <p:ext uri="{BB962C8B-B14F-4D97-AF65-F5344CB8AC3E}">
        <p14:creationId xmlns:p14="http://schemas.microsoft.com/office/powerpoint/2010/main" val="4218784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7A546-553E-E856-01F2-4FCABA3B8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16A11-14F5-4EFD-E954-9604A0A6E520}"/>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5CE26EEB-6144-A9DB-B2CF-DB8A11718BC2}"/>
              </a:ext>
            </a:extLst>
          </p:cNvPr>
          <p:cNvSpPr>
            <a:spLocks noGrp="1"/>
          </p:cNvSpPr>
          <p:nvPr>
            <p:ph sz="half" idx="1"/>
          </p:nvPr>
        </p:nvSpPr>
        <p:spPr>
          <a:xfrm>
            <a:off x="1097281" y="2120900"/>
            <a:ext cx="3985708" cy="3748194"/>
          </a:xfrm>
        </p:spPr>
        <p:txBody>
          <a:bodyPr>
            <a:normAutofit fontScale="85000" lnSpcReduction="20000"/>
          </a:bodyPr>
          <a:lstStyle/>
          <a:p>
            <a:r>
              <a:rPr lang="en-US" b="1" dirty="0"/>
              <a:t>Visualization:</a:t>
            </a:r>
            <a:br>
              <a:rPr lang="en-US" b="1" dirty="0"/>
            </a:br>
            <a:br>
              <a:rPr lang="en-US" b="1" dirty="0"/>
            </a:br>
            <a:r>
              <a:rPr lang="en-US" dirty="0"/>
              <a:t>For the satisfaction the mean is 4.771 and median is 4.85, so there is a slight negative skew. The standard deviation is 0.856, which indicates low dispersion as the coefficient of variation is 17.94%. </a:t>
            </a:r>
            <a:br>
              <a:rPr lang="en-US" dirty="0"/>
            </a:br>
            <a:r>
              <a:rPr lang="en-US" dirty="0"/>
              <a:t>The minimum is 3.2, the max is 6.8, and the IQR is 1.3, so 50% of the data lies in the area of 4.85 ± 0.65. We can tell company that client companies satisfaction is constricted to 4.771 ± 0.856 on a rating scale (1-10) which is really not a good indication as most of the customers have the same view based on the small coefficient of variation.</a:t>
            </a:r>
          </a:p>
        </p:txBody>
      </p:sp>
      <p:pic>
        <p:nvPicPr>
          <p:cNvPr id="5" name="Content Placeholder 4" descr="Figure_14_satisfaction">
            <a:extLst>
              <a:ext uri="{FF2B5EF4-FFF2-40B4-BE49-F238E27FC236}">
                <a16:creationId xmlns:a16="http://schemas.microsoft.com/office/drawing/2014/main" id="{47B0A6B2-9D4E-D95D-1B43-9C8D14281DFC}"/>
              </a:ext>
            </a:extLst>
          </p:cNvPr>
          <p:cNvPicPr>
            <a:picLocks noGrp="1"/>
          </p:cNvPicPr>
          <p:nvPr>
            <p:ph sz="half" idx="2"/>
          </p:nvPr>
        </p:nvPicPr>
        <p:blipFill>
          <a:blip r:embed="rId3" cstate="print"/>
          <a:srcRect/>
          <a:stretch/>
        </p:blipFill>
        <p:spPr>
          <a:xfrm>
            <a:off x="5692588" y="2255441"/>
            <a:ext cx="5462775" cy="3479006"/>
          </a:xfrm>
          <a:prstGeom prst="rect">
            <a:avLst/>
          </a:prstGeom>
        </p:spPr>
      </p:pic>
    </p:spTree>
    <p:extLst>
      <p:ext uri="{BB962C8B-B14F-4D97-AF65-F5344CB8AC3E}">
        <p14:creationId xmlns:p14="http://schemas.microsoft.com/office/powerpoint/2010/main" val="1254382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25913D1-F746-B4D7-5B6A-109C89E5FA8B}"/>
              </a:ext>
            </a:extLst>
          </p:cNvPr>
          <p:cNvSpPr>
            <a:spLocks noGrp="1"/>
          </p:cNvSpPr>
          <p:nvPr>
            <p:ph type="pic" idx="1"/>
          </p:nvPr>
        </p:nvSpPr>
        <p:spPr/>
      </p:sp>
      <p:sp>
        <p:nvSpPr>
          <p:cNvPr id="3" name="Title 2">
            <a:extLst>
              <a:ext uri="{FF2B5EF4-FFF2-40B4-BE49-F238E27FC236}">
                <a16:creationId xmlns:a16="http://schemas.microsoft.com/office/drawing/2014/main" id="{5BD65BF7-3785-90E8-82A0-79894C1BD28E}"/>
              </a:ext>
            </a:extLst>
          </p:cNvPr>
          <p:cNvSpPr>
            <a:spLocks noGrp="1"/>
          </p:cNvSpPr>
          <p:nvPr>
            <p:ph type="title"/>
          </p:nvPr>
        </p:nvSpPr>
        <p:spPr>
          <a:xfrm>
            <a:off x="1097279" y="868217"/>
            <a:ext cx="10113645" cy="1996280"/>
          </a:xfrm>
        </p:spPr>
        <p:txBody>
          <a:bodyPr/>
          <a:lstStyle/>
          <a:p>
            <a:r>
              <a:rPr lang="en-US" sz="4000" dirty="0">
                <a:solidFill>
                  <a:schemeClr val="tx1"/>
                </a:solidFill>
              </a:rPr>
              <a:t>Section (3): </a:t>
            </a:r>
            <a:br>
              <a:rPr lang="en-US" sz="4000" dirty="0">
                <a:solidFill>
                  <a:schemeClr val="tx1"/>
                </a:solidFill>
              </a:rPr>
            </a:br>
            <a:r>
              <a:rPr lang="en-US" sz="4000" dirty="0">
                <a:solidFill>
                  <a:schemeClr val="tx1"/>
                </a:solidFill>
              </a:rPr>
              <a:t>Modeling and in-depth Analysis</a:t>
            </a:r>
          </a:p>
        </p:txBody>
      </p:sp>
      <p:sp>
        <p:nvSpPr>
          <p:cNvPr id="4" name="Text Placeholder 3">
            <a:extLst>
              <a:ext uri="{FF2B5EF4-FFF2-40B4-BE49-F238E27FC236}">
                <a16:creationId xmlns:a16="http://schemas.microsoft.com/office/drawing/2014/main" id="{FCEA02CA-1E23-3089-4C08-9410AAF4A85E}"/>
              </a:ext>
            </a:extLst>
          </p:cNvPr>
          <p:cNvSpPr>
            <a:spLocks noGrp="1"/>
          </p:cNvSpPr>
          <p:nvPr>
            <p:ph type="body" sz="half" idx="2"/>
          </p:nvPr>
        </p:nvSpPr>
        <p:spPr>
          <a:xfrm>
            <a:off x="1097279" y="4920677"/>
            <a:ext cx="10113264" cy="609600"/>
          </a:xfrm>
        </p:spPr>
        <p:txBody>
          <a:bodyPr>
            <a:normAutofit/>
          </a:bodyPr>
          <a:lstStyle/>
          <a:p>
            <a:pPr algn="ctr"/>
            <a:r>
              <a:rPr lang="en-US" sz="2800" b="1" dirty="0">
                <a:solidFill>
                  <a:schemeClr val="accent3">
                    <a:lumMod val="75000"/>
                  </a:schemeClr>
                </a:solidFill>
                <a:latin typeface="+mj-lt"/>
              </a:rPr>
              <a:t>ONE-WAY ANOVA</a:t>
            </a:r>
          </a:p>
        </p:txBody>
      </p:sp>
    </p:spTree>
    <p:extLst>
      <p:ext uri="{BB962C8B-B14F-4D97-AF65-F5344CB8AC3E}">
        <p14:creationId xmlns:p14="http://schemas.microsoft.com/office/powerpoint/2010/main" val="1976526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CD571-5DBA-1DCB-27AA-A61AC4E08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6AFDE-BCED-100E-1FAA-17B9C42C1596}"/>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CF10D06-0AF5-02D5-2973-EDB69B7B72EC}"/>
              </a:ext>
            </a:extLst>
          </p:cNvPr>
          <p:cNvSpPr>
            <a:spLocks noGrp="1"/>
          </p:cNvSpPr>
          <p:nvPr>
            <p:ph sz="half" idx="1"/>
          </p:nvPr>
        </p:nvSpPr>
        <p:spPr>
          <a:xfrm>
            <a:off x="1097281" y="2120900"/>
            <a:ext cx="3985708" cy="3748194"/>
          </a:xfrm>
        </p:spPr>
        <p:txBody>
          <a:bodyPr>
            <a:normAutofit lnSpcReduction="10000"/>
          </a:bodyPr>
          <a:lstStyle/>
          <a:p>
            <a:r>
              <a:rPr lang="en-US" dirty="0">
                <a:solidFill>
                  <a:schemeClr val="accent1">
                    <a:lumMod val="50000"/>
                  </a:schemeClr>
                </a:solidFill>
              </a:rPr>
              <a:t>A) ONE-WAY ANOVA</a:t>
            </a:r>
          </a:p>
          <a:p>
            <a:r>
              <a:rPr lang="en-US" dirty="0">
                <a:solidFill>
                  <a:schemeClr val="accent1">
                    <a:lumMod val="75000"/>
                  </a:schemeClr>
                </a:solidFill>
              </a:rPr>
              <a:t>Does Price Level significantly affected by Firm Size?</a:t>
            </a:r>
            <a:br>
              <a:rPr lang="en-US" dirty="0">
                <a:solidFill>
                  <a:schemeClr val="accent1">
                    <a:lumMod val="75000"/>
                  </a:schemeClr>
                </a:solidFill>
              </a:rPr>
            </a:br>
            <a:br>
              <a:rPr lang="en-US" dirty="0">
                <a:solidFill>
                  <a:schemeClr val="accent1">
                    <a:lumMod val="75000"/>
                  </a:schemeClr>
                </a:solidFill>
              </a:rPr>
            </a:br>
            <a:r>
              <a:rPr lang="en-US" sz="1400" b="1" dirty="0">
                <a:solidFill>
                  <a:schemeClr val="accent1">
                    <a:lumMod val="75000"/>
                  </a:schemeClr>
                </a:solidFill>
              </a:rPr>
              <a:t>(Price Perception vs. Firm Size) - segmentation</a:t>
            </a:r>
          </a:p>
          <a:p>
            <a:r>
              <a:rPr lang="en-US" b="1" dirty="0"/>
              <a:t>IV: </a:t>
            </a:r>
            <a:r>
              <a:rPr lang="en-US" b="1" dirty="0" err="1"/>
              <a:t>firm_size</a:t>
            </a:r>
            <a:r>
              <a:rPr lang="en-US" b="1" dirty="0"/>
              <a:t> (3 Groups)</a:t>
            </a:r>
            <a:br>
              <a:rPr lang="en-US" b="1" dirty="0"/>
            </a:br>
            <a:r>
              <a:rPr lang="en-US" dirty="0"/>
              <a:t>(0=Small, 1=Medium, 2=Large)</a:t>
            </a:r>
          </a:p>
          <a:p>
            <a:r>
              <a:rPr lang="en-US" b="1" dirty="0"/>
              <a:t>DV: Price Level (Continuous)</a:t>
            </a:r>
            <a:br>
              <a:rPr lang="en-US" b="1" dirty="0"/>
            </a:br>
            <a:r>
              <a:rPr lang="en-US" dirty="0"/>
              <a:t>Continuous (0–10)</a:t>
            </a:r>
          </a:p>
          <a:p>
            <a:r>
              <a:rPr lang="en-US" b="1" dirty="0"/>
              <a:t> </a:t>
            </a:r>
          </a:p>
          <a:p>
            <a:endParaRPr lang="en-US" dirty="0"/>
          </a:p>
        </p:txBody>
      </p:sp>
      <p:pic>
        <p:nvPicPr>
          <p:cNvPr id="12" name="Content Placeholder 11">
            <a:extLst>
              <a:ext uri="{FF2B5EF4-FFF2-40B4-BE49-F238E27FC236}">
                <a16:creationId xmlns:a16="http://schemas.microsoft.com/office/drawing/2014/main" id="{51C2D596-70AC-55BB-3D03-DDA20C45E681}"/>
              </a:ext>
            </a:extLst>
          </p:cNvPr>
          <p:cNvPicPr>
            <a:picLocks noGrp="1" noChangeAspect="1"/>
          </p:cNvPicPr>
          <p:nvPr>
            <p:ph sz="half" idx="2"/>
          </p:nvPr>
        </p:nvPicPr>
        <p:blipFill>
          <a:blip r:embed="rId3"/>
          <a:stretch>
            <a:fillRect/>
          </a:stretch>
        </p:blipFill>
        <p:spPr>
          <a:xfrm>
            <a:off x="5486400" y="2262780"/>
            <a:ext cx="5668963" cy="3464327"/>
          </a:xfrm>
          <a:prstGeom prst="rect">
            <a:avLst/>
          </a:prstGeom>
        </p:spPr>
      </p:pic>
    </p:spTree>
    <p:extLst>
      <p:ext uri="{BB962C8B-B14F-4D97-AF65-F5344CB8AC3E}">
        <p14:creationId xmlns:p14="http://schemas.microsoft.com/office/powerpoint/2010/main" val="2771727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B0B3-8F17-D392-CD07-4B4ACFF83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17A6E-60E5-E054-00AA-218704B2C65F}"/>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7A7A8DD-F333-6CD9-7DE4-94973CA02FA4}"/>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A) ONE-WAY ANOVA</a:t>
            </a:r>
          </a:p>
          <a:p>
            <a:r>
              <a:rPr lang="en-US" b="1" dirty="0"/>
              <a:t>Assumptions:</a:t>
            </a:r>
          </a:p>
          <a:p>
            <a:pPr marL="457200" indent="-280988">
              <a:buFont typeface="+mj-lt"/>
              <a:buAutoNum type="arabicPeriod"/>
            </a:pPr>
            <a:r>
              <a:rPr lang="en-US" b="1" dirty="0">
                <a:solidFill>
                  <a:schemeClr val="accent1">
                    <a:lumMod val="75000"/>
                  </a:schemeClr>
                </a:solidFill>
              </a:rPr>
              <a:t>Data is Normally Distributed</a:t>
            </a:r>
          </a:p>
          <a:p>
            <a:pPr marL="457200" indent="-280988">
              <a:buFont typeface="+mj-lt"/>
              <a:buAutoNum type="arabicPeriod"/>
            </a:pPr>
            <a:r>
              <a:rPr lang="en-US" b="1" dirty="0"/>
              <a:t>Data is Homogeneous </a:t>
            </a:r>
          </a:p>
          <a:p>
            <a:endParaRPr lang="en-US" dirty="0"/>
          </a:p>
        </p:txBody>
      </p:sp>
      <p:sp>
        <p:nvSpPr>
          <p:cNvPr id="4" name="Content Placeholder 3">
            <a:extLst>
              <a:ext uri="{FF2B5EF4-FFF2-40B4-BE49-F238E27FC236}">
                <a16:creationId xmlns:a16="http://schemas.microsoft.com/office/drawing/2014/main" id="{2C6801E5-0D3D-8649-0993-84668BD5A1BE}"/>
              </a:ext>
            </a:extLst>
          </p:cNvPr>
          <p:cNvSpPr>
            <a:spLocks noGrp="1"/>
          </p:cNvSpPr>
          <p:nvPr>
            <p:ph sz="half" idx="2"/>
          </p:nvPr>
        </p:nvSpPr>
        <p:spPr>
          <a:xfrm>
            <a:off x="1097279" y="4188113"/>
            <a:ext cx="9450647" cy="2064521"/>
          </a:xfrm>
        </p:spPr>
        <p:txBody>
          <a:bodyPr/>
          <a:lstStyle/>
          <a:p>
            <a:r>
              <a:rPr lang="en-US" dirty="0"/>
              <a:t>Hypothesis</a:t>
            </a:r>
            <a:br>
              <a:rPr lang="en-US" dirty="0"/>
            </a:br>
            <a:r>
              <a:rPr lang="en-US" dirty="0"/>
              <a:t>H</a:t>
            </a:r>
            <a:r>
              <a:rPr lang="en-US" sz="1400" dirty="0"/>
              <a:t>0</a:t>
            </a:r>
            <a:r>
              <a:rPr lang="en-US" dirty="0"/>
              <a:t>: </a:t>
            </a:r>
            <a:br>
              <a:rPr lang="en-US" dirty="0"/>
            </a:br>
            <a:r>
              <a:rPr lang="en-US" sz="1600" dirty="0"/>
              <a:t>The data is normally distributed in all 3 groups</a:t>
            </a:r>
            <a:br>
              <a:rPr lang="en-US" sz="1600" dirty="0"/>
            </a:br>
            <a:r>
              <a:rPr lang="en-US" sz="1800" dirty="0"/>
              <a:t>H</a:t>
            </a:r>
            <a:r>
              <a:rPr lang="en-US" sz="1400" dirty="0"/>
              <a:t>a</a:t>
            </a:r>
            <a:r>
              <a:rPr lang="en-US" sz="1600" dirty="0"/>
              <a:t>: </a:t>
            </a:r>
            <a:br>
              <a:rPr lang="en-US" sz="1600" dirty="0"/>
            </a:br>
            <a:r>
              <a:rPr lang="en-US" sz="1600" dirty="0"/>
              <a:t>At least the data NOT is normally distributed in ONE group.</a:t>
            </a:r>
          </a:p>
          <a:p>
            <a:r>
              <a:rPr lang="en-US" sz="1600" dirty="0">
                <a:solidFill>
                  <a:srgbClr val="C00000"/>
                </a:solidFill>
              </a:rPr>
              <a:t>All P-Values &gt; 0.05 in all 3 groups. </a:t>
            </a:r>
            <a:r>
              <a:rPr lang="en-US" sz="1600" b="1" u="sng" dirty="0">
                <a:solidFill>
                  <a:srgbClr val="C00000"/>
                </a:solidFill>
              </a:rPr>
              <a:t>So, We Accept H</a:t>
            </a:r>
            <a:r>
              <a:rPr lang="en-US" sz="1200" b="1" u="sng" dirty="0">
                <a:solidFill>
                  <a:srgbClr val="C00000"/>
                </a:solidFill>
              </a:rPr>
              <a:t>0</a:t>
            </a:r>
            <a:endParaRPr lang="en-US" sz="1600" b="1" u="sng" dirty="0">
              <a:solidFill>
                <a:srgbClr val="C00000"/>
              </a:solidFill>
            </a:endParaRPr>
          </a:p>
        </p:txBody>
      </p:sp>
      <p:pic>
        <p:nvPicPr>
          <p:cNvPr id="5" name="Content Placeholder 5">
            <a:extLst>
              <a:ext uri="{FF2B5EF4-FFF2-40B4-BE49-F238E27FC236}">
                <a16:creationId xmlns:a16="http://schemas.microsoft.com/office/drawing/2014/main" id="{532839D8-1F3E-2373-A04F-565E32A99302}"/>
              </a:ext>
            </a:extLst>
          </p:cNvPr>
          <p:cNvPicPr>
            <a:picLocks noChangeAspect="1"/>
          </p:cNvPicPr>
          <p:nvPr/>
        </p:nvPicPr>
        <p:blipFill>
          <a:blip r:embed="rId2"/>
          <a:stretch>
            <a:fillRect/>
          </a:stretch>
        </p:blipFill>
        <p:spPr>
          <a:xfrm>
            <a:off x="5866938" y="2120900"/>
            <a:ext cx="5706271" cy="2067213"/>
          </a:xfrm>
          <a:prstGeom prst="rect">
            <a:avLst/>
          </a:prstGeom>
        </p:spPr>
      </p:pic>
    </p:spTree>
    <p:extLst>
      <p:ext uri="{BB962C8B-B14F-4D97-AF65-F5344CB8AC3E}">
        <p14:creationId xmlns:p14="http://schemas.microsoft.com/office/powerpoint/2010/main" val="3417939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ECFB7-68EA-3195-8876-F2CB49CDA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D8DC3-06D7-D4EC-2985-6F446F5760B3}"/>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972D6131-F025-8FBF-249F-CF1C6EFF4479}"/>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A) ONE-WAY ANOVA</a:t>
            </a:r>
          </a:p>
          <a:p>
            <a:r>
              <a:rPr lang="en-US" b="1" dirty="0"/>
              <a:t>Assumptions:</a:t>
            </a:r>
          </a:p>
          <a:p>
            <a:pPr marL="457200" indent="-280988">
              <a:buFont typeface="+mj-lt"/>
              <a:buAutoNum type="arabicPeriod"/>
            </a:pPr>
            <a:r>
              <a:rPr lang="en-US" b="1" dirty="0"/>
              <a:t>Data is Normally Distributed</a:t>
            </a:r>
          </a:p>
          <a:p>
            <a:pPr marL="457200" indent="-280988">
              <a:buFont typeface="+mj-lt"/>
              <a:buAutoNum type="arabicPeriod"/>
            </a:pPr>
            <a:r>
              <a:rPr lang="en-US" b="1" dirty="0">
                <a:solidFill>
                  <a:schemeClr val="accent1">
                    <a:lumMod val="75000"/>
                  </a:schemeClr>
                </a:solidFill>
              </a:rPr>
              <a:t>Data is Homogeneous </a:t>
            </a:r>
          </a:p>
          <a:p>
            <a:endParaRPr lang="en-US" dirty="0"/>
          </a:p>
        </p:txBody>
      </p:sp>
      <p:sp>
        <p:nvSpPr>
          <p:cNvPr id="4" name="Content Placeholder 3">
            <a:extLst>
              <a:ext uri="{FF2B5EF4-FFF2-40B4-BE49-F238E27FC236}">
                <a16:creationId xmlns:a16="http://schemas.microsoft.com/office/drawing/2014/main" id="{0636C358-79F8-3D53-BD91-4E0D439AB1CE}"/>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 </a:t>
            </a:r>
            <a:br>
              <a:rPr lang="en-US" dirty="0"/>
            </a:br>
            <a:r>
              <a:rPr lang="en-US" sz="1600" dirty="0" err="1"/>
              <a:t>price_level</a:t>
            </a:r>
            <a:r>
              <a:rPr lang="en-US" sz="1600" dirty="0"/>
              <a:t> Sig2, Small = </a:t>
            </a:r>
            <a:r>
              <a:rPr lang="en-US" sz="1600" dirty="0" err="1"/>
              <a:t>price_level</a:t>
            </a:r>
            <a:r>
              <a:rPr lang="en-US" sz="1600" dirty="0"/>
              <a:t> Sig2, Medium = </a:t>
            </a:r>
            <a:r>
              <a:rPr lang="en-US" sz="1600" dirty="0" err="1"/>
              <a:t>price_level</a:t>
            </a:r>
            <a:r>
              <a:rPr lang="en-US" sz="1600" dirty="0"/>
              <a:t> Sig2, Large</a:t>
            </a:r>
            <a:br>
              <a:rPr lang="en-US" sz="1600" dirty="0"/>
            </a:br>
            <a:r>
              <a:rPr lang="en-US" sz="1800" dirty="0"/>
              <a:t>H</a:t>
            </a:r>
            <a:r>
              <a:rPr lang="en-US" sz="1400" dirty="0"/>
              <a:t>a</a:t>
            </a:r>
            <a:r>
              <a:rPr lang="en-US" sz="1600" dirty="0"/>
              <a:t>: </a:t>
            </a:r>
            <a:br>
              <a:rPr lang="en-US" sz="1600" dirty="0"/>
            </a:br>
            <a:r>
              <a:rPr lang="en-US" sz="1600" dirty="0"/>
              <a:t>At least TWO Sig2 are NOT Equal</a:t>
            </a:r>
          </a:p>
          <a:p>
            <a:r>
              <a:rPr lang="en-US" sz="1600" dirty="0">
                <a:solidFill>
                  <a:srgbClr val="C00000"/>
                </a:solidFill>
              </a:rPr>
              <a:t>All P-Values &gt; 0.05 So, </a:t>
            </a:r>
            <a:r>
              <a:rPr lang="en-US" sz="1600" b="1" u="sng" dirty="0">
                <a:solidFill>
                  <a:srgbClr val="C00000"/>
                </a:solidFill>
              </a:rPr>
              <a:t>We Accept H</a:t>
            </a:r>
            <a:r>
              <a:rPr lang="en-US" sz="1200" b="1" u="sng" dirty="0">
                <a:solidFill>
                  <a:srgbClr val="C00000"/>
                </a:solidFill>
              </a:rPr>
              <a:t>0</a:t>
            </a:r>
            <a:endParaRPr lang="en-US" sz="1600" b="1" u="sng" dirty="0">
              <a:solidFill>
                <a:srgbClr val="C00000"/>
              </a:solidFill>
            </a:endParaRPr>
          </a:p>
        </p:txBody>
      </p:sp>
      <p:pic>
        <p:nvPicPr>
          <p:cNvPr id="6" name="Picture 5">
            <a:extLst>
              <a:ext uri="{FF2B5EF4-FFF2-40B4-BE49-F238E27FC236}">
                <a16:creationId xmlns:a16="http://schemas.microsoft.com/office/drawing/2014/main" id="{B7A85922-4111-56ED-05FA-E2350132CF98}"/>
              </a:ext>
            </a:extLst>
          </p:cNvPr>
          <p:cNvPicPr>
            <a:picLocks noChangeAspect="1"/>
          </p:cNvPicPr>
          <p:nvPr/>
        </p:nvPicPr>
        <p:blipFill>
          <a:blip r:embed="rId2"/>
          <a:stretch>
            <a:fillRect/>
          </a:stretch>
        </p:blipFill>
        <p:spPr>
          <a:xfrm>
            <a:off x="5822602" y="2120900"/>
            <a:ext cx="5239481" cy="2429214"/>
          </a:xfrm>
          <a:prstGeom prst="rect">
            <a:avLst/>
          </a:prstGeom>
        </p:spPr>
      </p:pic>
    </p:spTree>
    <p:extLst>
      <p:ext uri="{BB962C8B-B14F-4D97-AF65-F5344CB8AC3E}">
        <p14:creationId xmlns:p14="http://schemas.microsoft.com/office/powerpoint/2010/main" val="153733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1007-73F5-731D-99E8-B9D6CC11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214AF-79E9-91AB-D0EC-D1999013FC22}"/>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F5611FA9-1338-EE7A-C6D8-A842194663C2}"/>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A) ONE-WAY ANOVA</a:t>
            </a:r>
          </a:p>
          <a:p>
            <a:r>
              <a:rPr lang="en-US" b="1" dirty="0"/>
              <a:t>Model Test:</a:t>
            </a:r>
          </a:p>
          <a:p>
            <a:pPr marL="0" indent="0">
              <a:buNone/>
            </a:pPr>
            <a:endParaRPr lang="en-US" dirty="0"/>
          </a:p>
        </p:txBody>
      </p:sp>
      <p:sp>
        <p:nvSpPr>
          <p:cNvPr id="4" name="Content Placeholder 3">
            <a:extLst>
              <a:ext uri="{FF2B5EF4-FFF2-40B4-BE49-F238E27FC236}">
                <a16:creationId xmlns:a16="http://schemas.microsoft.com/office/drawing/2014/main" id="{40E5AF1E-E923-E64D-55D3-331AC63FFFD3}"/>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 </a:t>
            </a:r>
            <a:br>
              <a:rPr lang="en-US" dirty="0"/>
            </a:br>
            <a:r>
              <a:rPr lang="en-US" sz="1600" dirty="0" err="1"/>
              <a:t>price_level</a:t>
            </a:r>
            <a:r>
              <a:rPr lang="en-US" sz="1600" dirty="0"/>
              <a:t> Mu, Small = </a:t>
            </a:r>
            <a:r>
              <a:rPr lang="en-US" sz="1600" dirty="0" err="1"/>
              <a:t>price_level</a:t>
            </a:r>
            <a:r>
              <a:rPr lang="en-US" sz="1600" dirty="0"/>
              <a:t> Mu, Medium = </a:t>
            </a:r>
            <a:r>
              <a:rPr lang="en-US" sz="1600" dirty="0" err="1"/>
              <a:t>price_level</a:t>
            </a:r>
            <a:r>
              <a:rPr lang="en-US" sz="1600" dirty="0"/>
              <a:t> Mu, Large</a:t>
            </a:r>
            <a:br>
              <a:rPr lang="en-US" sz="1600" dirty="0"/>
            </a:br>
            <a:r>
              <a:rPr lang="en-US" sz="1800" dirty="0"/>
              <a:t>H</a:t>
            </a:r>
            <a:r>
              <a:rPr lang="en-US" sz="1400" dirty="0"/>
              <a:t>a</a:t>
            </a:r>
            <a:r>
              <a:rPr lang="en-US" sz="1600" dirty="0"/>
              <a:t>: </a:t>
            </a:r>
            <a:br>
              <a:rPr lang="en-US" sz="1600" dirty="0"/>
            </a:br>
            <a:r>
              <a:rPr lang="en-US" sz="1600" dirty="0"/>
              <a:t>At least TWO Mu are NOT Equal</a:t>
            </a:r>
          </a:p>
          <a:p>
            <a:r>
              <a:rPr lang="en-US" sz="1600" dirty="0">
                <a:solidFill>
                  <a:srgbClr val="C00000"/>
                </a:solidFill>
              </a:rPr>
              <a:t>P-Values &lt; 0.05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endParaRPr lang="en-US" sz="1600" b="1" u="sng" dirty="0">
              <a:solidFill>
                <a:srgbClr val="C00000"/>
              </a:solidFill>
            </a:endParaRPr>
          </a:p>
        </p:txBody>
      </p:sp>
      <p:pic>
        <p:nvPicPr>
          <p:cNvPr id="5" name="Picture 4">
            <a:extLst>
              <a:ext uri="{FF2B5EF4-FFF2-40B4-BE49-F238E27FC236}">
                <a16:creationId xmlns:a16="http://schemas.microsoft.com/office/drawing/2014/main" id="{F406DC43-3641-CCF7-A2D0-2B5557CF5FD7}"/>
              </a:ext>
            </a:extLst>
          </p:cNvPr>
          <p:cNvPicPr>
            <a:picLocks noChangeAspect="1"/>
          </p:cNvPicPr>
          <p:nvPr/>
        </p:nvPicPr>
        <p:blipFill>
          <a:blip r:embed="rId2"/>
          <a:stretch>
            <a:fillRect/>
          </a:stretch>
        </p:blipFill>
        <p:spPr>
          <a:xfrm>
            <a:off x="5773304" y="2257685"/>
            <a:ext cx="5382376" cy="1790950"/>
          </a:xfrm>
          <a:prstGeom prst="rect">
            <a:avLst/>
          </a:prstGeom>
        </p:spPr>
      </p:pic>
    </p:spTree>
    <p:extLst>
      <p:ext uri="{BB962C8B-B14F-4D97-AF65-F5344CB8AC3E}">
        <p14:creationId xmlns:p14="http://schemas.microsoft.com/office/powerpoint/2010/main" val="640314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2D7E-E2C2-1024-F189-1933D9E8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D183A-0325-6261-AAFC-22174A16DF70}"/>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0245D2F2-1673-521A-B700-A551AC08A28B}"/>
              </a:ext>
            </a:extLst>
          </p:cNvPr>
          <p:cNvSpPr>
            <a:spLocks noGrp="1"/>
          </p:cNvSpPr>
          <p:nvPr>
            <p:ph sz="half" idx="1"/>
          </p:nvPr>
        </p:nvSpPr>
        <p:spPr>
          <a:xfrm>
            <a:off x="1097281" y="2120901"/>
            <a:ext cx="3985708" cy="1019464"/>
          </a:xfrm>
        </p:spPr>
        <p:txBody>
          <a:bodyPr>
            <a:normAutofit/>
          </a:bodyPr>
          <a:lstStyle/>
          <a:p>
            <a:r>
              <a:rPr lang="en-US" dirty="0">
                <a:solidFill>
                  <a:schemeClr val="accent1">
                    <a:lumMod val="50000"/>
                  </a:schemeClr>
                </a:solidFill>
              </a:rPr>
              <a:t>A) ONE-WAY ANOVA</a:t>
            </a:r>
          </a:p>
          <a:p>
            <a:r>
              <a:rPr lang="en-US" b="1" dirty="0"/>
              <a:t>Post-Hoc Test:</a:t>
            </a:r>
          </a:p>
          <a:p>
            <a:pPr marL="0" indent="0">
              <a:buNone/>
            </a:pPr>
            <a:endParaRPr lang="en-US" dirty="0"/>
          </a:p>
        </p:txBody>
      </p:sp>
      <p:sp>
        <p:nvSpPr>
          <p:cNvPr id="4" name="Content Placeholder 3">
            <a:extLst>
              <a:ext uri="{FF2B5EF4-FFF2-40B4-BE49-F238E27FC236}">
                <a16:creationId xmlns:a16="http://schemas.microsoft.com/office/drawing/2014/main" id="{2B4BB605-03B1-B293-BE86-350506A2C560}"/>
              </a:ext>
            </a:extLst>
          </p:cNvPr>
          <p:cNvSpPr>
            <a:spLocks noGrp="1"/>
          </p:cNvSpPr>
          <p:nvPr>
            <p:ph sz="half" idx="2"/>
          </p:nvPr>
        </p:nvSpPr>
        <p:spPr>
          <a:xfrm>
            <a:off x="554181" y="3029527"/>
            <a:ext cx="4919783" cy="3223107"/>
          </a:xfrm>
        </p:spPr>
        <p:txBody>
          <a:bodyPr>
            <a:normAutofit/>
          </a:bodyPr>
          <a:lstStyle/>
          <a:p>
            <a:r>
              <a:rPr lang="en-US" dirty="0"/>
              <a:t>H</a:t>
            </a:r>
            <a:r>
              <a:rPr lang="en-US" sz="1400" dirty="0"/>
              <a:t>0</a:t>
            </a:r>
            <a:r>
              <a:rPr lang="en-US" dirty="0"/>
              <a:t>: </a:t>
            </a:r>
            <a:r>
              <a:rPr lang="en-US" sz="1600" dirty="0" err="1"/>
              <a:t>price_level</a:t>
            </a:r>
            <a:r>
              <a:rPr lang="en-US" sz="1600" dirty="0"/>
              <a:t> Mu, Small = </a:t>
            </a:r>
            <a:r>
              <a:rPr lang="en-US" sz="1600" dirty="0" err="1"/>
              <a:t>price_level</a:t>
            </a:r>
            <a:r>
              <a:rPr lang="en-US" sz="1600" dirty="0"/>
              <a:t> Mu, Medium</a:t>
            </a:r>
            <a:br>
              <a:rPr lang="en-US" sz="1600" dirty="0"/>
            </a:br>
            <a:r>
              <a:rPr lang="en-US" sz="1800" dirty="0"/>
              <a:t>H</a:t>
            </a:r>
            <a:r>
              <a:rPr lang="en-US" sz="1400" dirty="0"/>
              <a:t>a</a:t>
            </a:r>
            <a:r>
              <a:rPr lang="en-US" sz="1600" dirty="0"/>
              <a:t>: </a:t>
            </a:r>
            <a:r>
              <a:rPr lang="en-US" sz="1600" dirty="0" err="1"/>
              <a:t>price_level</a:t>
            </a:r>
            <a:r>
              <a:rPr lang="en-US" sz="1600" dirty="0"/>
              <a:t> Mu, Small =! </a:t>
            </a:r>
            <a:r>
              <a:rPr lang="en-US" sz="1600" dirty="0" err="1"/>
              <a:t>price_level</a:t>
            </a:r>
            <a:r>
              <a:rPr lang="en-US" sz="1600" dirty="0"/>
              <a:t> Mu, Medium</a:t>
            </a:r>
            <a:br>
              <a:rPr lang="en-US" sz="1600" dirty="0"/>
            </a:br>
            <a:r>
              <a:rPr lang="en-US" sz="1600" dirty="0">
                <a:solidFill>
                  <a:srgbClr val="C00000"/>
                </a:solidFill>
              </a:rPr>
              <a:t>P-Values = 0.012,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endParaRPr lang="en-US" sz="1600" dirty="0">
              <a:solidFill>
                <a:srgbClr val="C00000"/>
              </a:solidFill>
            </a:endParaRPr>
          </a:p>
          <a:p>
            <a:r>
              <a:rPr lang="en-US" sz="1600" dirty="0"/>
              <a:t>H</a:t>
            </a:r>
            <a:r>
              <a:rPr lang="en-US" sz="1400" dirty="0"/>
              <a:t>0</a:t>
            </a:r>
            <a:r>
              <a:rPr lang="en-US" sz="1600" dirty="0"/>
              <a:t>: </a:t>
            </a:r>
            <a:r>
              <a:rPr lang="en-US" sz="1600" dirty="0" err="1"/>
              <a:t>price_level</a:t>
            </a:r>
            <a:r>
              <a:rPr lang="en-US" sz="1600" dirty="0"/>
              <a:t> Mu, Small = </a:t>
            </a:r>
            <a:r>
              <a:rPr lang="en-US" sz="1600" dirty="0" err="1"/>
              <a:t>price_level</a:t>
            </a:r>
            <a:r>
              <a:rPr lang="en-US" sz="1600" dirty="0"/>
              <a:t> Mu, Large</a:t>
            </a:r>
            <a:br>
              <a:rPr lang="en-US" sz="1600" dirty="0"/>
            </a:br>
            <a:r>
              <a:rPr lang="en-US" sz="1800" dirty="0"/>
              <a:t>H</a:t>
            </a:r>
            <a:r>
              <a:rPr lang="en-US" sz="1400" dirty="0"/>
              <a:t>a</a:t>
            </a:r>
            <a:r>
              <a:rPr lang="en-US" sz="1600" dirty="0"/>
              <a:t>: </a:t>
            </a:r>
            <a:r>
              <a:rPr lang="en-US" sz="1600" dirty="0" err="1"/>
              <a:t>price_level</a:t>
            </a:r>
            <a:r>
              <a:rPr lang="en-US" sz="1600" dirty="0"/>
              <a:t> Mu, Small =! </a:t>
            </a:r>
            <a:r>
              <a:rPr lang="en-US" sz="1600" dirty="0" err="1"/>
              <a:t>price_level</a:t>
            </a:r>
            <a:r>
              <a:rPr lang="en-US" sz="1600" dirty="0"/>
              <a:t> Mu, Large</a:t>
            </a:r>
            <a:br>
              <a:rPr lang="en-US" sz="1600" dirty="0"/>
            </a:br>
            <a:r>
              <a:rPr lang="en-US" sz="1600" dirty="0">
                <a:solidFill>
                  <a:srgbClr val="C00000"/>
                </a:solidFill>
              </a:rPr>
              <a:t>P-Values = 0.881, So, </a:t>
            </a:r>
            <a:r>
              <a:rPr lang="en-US" sz="1600" b="1" u="sng" dirty="0">
                <a:solidFill>
                  <a:srgbClr val="C00000"/>
                </a:solidFill>
              </a:rPr>
              <a:t>We Accept H</a:t>
            </a:r>
            <a:r>
              <a:rPr lang="en-US" sz="1200" b="1" u="sng" dirty="0">
                <a:solidFill>
                  <a:srgbClr val="C00000"/>
                </a:solidFill>
              </a:rPr>
              <a:t>0</a:t>
            </a:r>
          </a:p>
          <a:p>
            <a:r>
              <a:rPr lang="en-US" sz="1600" dirty="0"/>
              <a:t>H</a:t>
            </a:r>
            <a:r>
              <a:rPr lang="en-US" sz="1400" dirty="0"/>
              <a:t>0</a:t>
            </a:r>
            <a:r>
              <a:rPr lang="en-US" sz="1600" dirty="0"/>
              <a:t>: </a:t>
            </a:r>
            <a:r>
              <a:rPr lang="en-US" sz="1600" dirty="0" err="1"/>
              <a:t>price_level</a:t>
            </a:r>
            <a:r>
              <a:rPr lang="en-US" sz="1600" dirty="0"/>
              <a:t> Mu, Medium = </a:t>
            </a:r>
            <a:r>
              <a:rPr lang="en-US" sz="1600" dirty="0" err="1"/>
              <a:t>price_level</a:t>
            </a:r>
            <a:r>
              <a:rPr lang="en-US" sz="1600" dirty="0"/>
              <a:t> Mu, Large</a:t>
            </a:r>
            <a:br>
              <a:rPr lang="en-US" sz="1600" dirty="0"/>
            </a:br>
            <a:r>
              <a:rPr lang="en-US" sz="1800" dirty="0"/>
              <a:t>H</a:t>
            </a:r>
            <a:r>
              <a:rPr lang="en-US" sz="1400" dirty="0"/>
              <a:t>a</a:t>
            </a:r>
            <a:r>
              <a:rPr lang="en-US" sz="1600" dirty="0"/>
              <a:t>: </a:t>
            </a:r>
            <a:r>
              <a:rPr lang="en-US" sz="1600" dirty="0" err="1"/>
              <a:t>price_level</a:t>
            </a:r>
            <a:r>
              <a:rPr lang="en-US" sz="1600" dirty="0"/>
              <a:t> Mu, Medium =! </a:t>
            </a:r>
            <a:r>
              <a:rPr lang="en-US" sz="1600" dirty="0" err="1"/>
              <a:t>price_level</a:t>
            </a:r>
            <a:r>
              <a:rPr lang="en-US" sz="1600" dirty="0"/>
              <a:t> Mu, Large</a:t>
            </a:r>
            <a:br>
              <a:rPr lang="en-US" sz="1600" dirty="0"/>
            </a:br>
            <a:r>
              <a:rPr lang="en-US" sz="1600" dirty="0">
                <a:solidFill>
                  <a:srgbClr val="C00000"/>
                </a:solidFill>
              </a:rPr>
              <a:t>P-Values = 0.040,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p>
          <a:p>
            <a:pPr marL="0" indent="0">
              <a:buNone/>
            </a:pPr>
            <a:endParaRPr lang="en-US" sz="1600" dirty="0"/>
          </a:p>
        </p:txBody>
      </p:sp>
      <p:pic>
        <p:nvPicPr>
          <p:cNvPr id="6" name="Picture 5">
            <a:extLst>
              <a:ext uri="{FF2B5EF4-FFF2-40B4-BE49-F238E27FC236}">
                <a16:creationId xmlns:a16="http://schemas.microsoft.com/office/drawing/2014/main" id="{581AC7CB-8103-61A2-1571-46451A3F655D}"/>
              </a:ext>
            </a:extLst>
          </p:cNvPr>
          <p:cNvPicPr>
            <a:picLocks noChangeAspect="1"/>
          </p:cNvPicPr>
          <p:nvPr/>
        </p:nvPicPr>
        <p:blipFill>
          <a:blip r:embed="rId2"/>
          <a:stretch>
            <a:fillRect/>
          </a:stretch>
        </p:blipFill>
        <p:spPr>
          <a:xfrm>
            <a:off x="5473963" y="1961628"/>
            <a:ext cx="6163856" cy="2934744"/>
          </a:xfrm>
          <a:prstGeom prst="rect">
            <a:avLst/>
          </a:prstGeom>
        </p:spPr>
      </p:pic>
    </p:spTree>
    <p:extLst>
      <p:ext uri="{BB962C8B-B14F-4D97-AF65-F5344CB8AC3E}">
        <p14:creationId xmlns:p14="http://schemas.microsoft.com/office/powerpoint/2010/main" val="197470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5B55-05D4-4510-11B3-315F80198E95}"/>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5246994-177D-7763-0C4C-02DC5EBEF3BB}"/>
              </a:ext>
            </a:extLst>
          </p:cNvPr>
          <p:cNvSpPr>
            <a:spLocks noGrp="1"/>
          </p:cNvSpPr>
          <p:nvPr>
            <p:ph type="pic" idx="1"/>
          </p:nvPr>
        </p:nvSpPr>
        <p:spPr/>
      </p:sp>
      <p:sp>
        <p:nvSpPr>
          <p:cNvPr id="3" name="Title 2">
            <a:extLst>
              <a:ext uri="{FF2B5EF4-FFF2-40B4-BE49-F238E27FC236}">
                <a16:creationId xmlns:a16="http://schemas.microsoft.com/office/drawing/2014/main" id="{DDC0972B-9B4E-D3CB-F93D-FF644EBC241F}"/>
              </a:ext>
            </a:extLst>
          </p:cNvPr>
          <p:cNvSpPr>
            <a:spLocks noGrp="1"/>
          </p:cNvSpPr>
          <p:nvPr>
            <p:ph type="title"/>
          </p:nvPr>
        </p:nvSpPr>
        <p:spPr>
          <a:xfrm>
            <a:off x="1097279" y="868217"/>
            <a:ext cx="10113645" cy="1996280"/>
          </a:xfrm>
        </p:spPr>
        <p:txBody>
          <a:bodyPr/>
          <a:lstStyle/>
          <a:p>
            <a:r>
              <a:rPr lang="en-US" sz="4000" dirty="0">
                <a:solidFill>
                  <a:schemeClr val="tx1"/>
                </a:solidFill>
              </a:rPr>
              <a:t>Section (3): </a:t>
            </a:r>
            <a:br>
              <a:rPr lang="en-US" sz="4000" dirty="0">
                <a:solidFill>
                  <a:schemeClr val="tx1"/>
                </a:solidFill>
              </a:rPr>
            </a:br>
            <a:r>
              <a:rPr lang="en-US" sz="4000" dirty="0">
                <a:solidFill>
                  <a:schemeClr val="tx1"/>
                </a:solidFill>
              </a:rPr>
              <a:t>Modeling and in-depth Analysis</a:t>
            </a:r>
          </a:p>
        </p:txBody>
      </p:sp>
      <p:sp>
        <p:nvSpPr>
          <p:cNvPr id="4" name="Text Placeholder 3">
            <a:extLst>
              <a:ext uri="{FF2B5EF4-FFF2-40B4-BE49-F238E27FC236}">
                <a16:creationId xmlns:a16="http://schemas.microsoft.com/office/drawing/2014/main" id="{1F9500C7-18E8-C1B9-CF4F-26662CB3F779}"/>
              </a:ext>
            </a:extLst>
          </p:cNvPr>
          <p:cNvSpPr>
            <a:spLocks noGrp="1"/>
          </p:cNvSpPr>
          <p:nvPr>
            <p:ph type="body" sz="half" idx="2"/>
          </p:nvPr>
        </p:nvSpPr>
        <p:spPr>
          <a:xfrm>
            <a:off x="1097279" y="4920677"/>
            <a:ext cx="10113264" cy="609600"/>
          </a:xfrm>
        </p:spPr>
        <p:txBody>
          <a:bodyPr>
            <a:normAutofit/>
          </a:bodyPr>
          <a:lstStyle/>
          <a:p>
            <a:pPr algn="ctr"/>
            <a:r>
              <a:rPr lang="en-US" sz="2800" b="1" dirty="0">
                <a:solidFill>
                  <a:schemeClr val="accent3">
                    <a:lumMod val="75000"/>
                  </a:schemeClr>
                </a:solidFill>
                <a:latin typeface="+mj-lt"/>
              </a:rPr>
              <a:t>ONE-WAY ANCOVA</a:t>
            </a:r>
          </a:p>
        </p:txBody>
      </p:sp>
    </p:spTree>
    <p:extLst>
      <p:ext uri="{BB962C8B-B14F-4D97-AF65-F5344CB8AC3E}">
        <p14:creationId xmlns:p14="http://schemas.microsoft.com/office/powerpoint/2010/main" val="719036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F80B5-215D-4E0A-B308-2891ECC87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F95BE-FD3A-2ED6-0202-17177030618B}"/>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7C9064C-828A-C795-51E4-1A100F857A3D}"/>
              </a:ext>
            </a:extLst>
          </p:cNvPr>
          <p:cNvSpPr>
            <a:spLocks noGrp="1"/>
          </p:cNvSpPr>
          <p:nvPr>
            <p:ph sz="half" idx="1"/>
          </p:nvPr>
        </p:nvSpPr>
        <p:spPr>
          <a:xfrm>
            <a:off x="1097281" y="2120899"/>
            <a:ext cx="3985708" cy="4196773"/>
          </a:xfrm>
        </p:spPr>
        <p:txBody>
          <a:bodyPr>
            <a:normAutofit fontScale="92500" lnSpcReduction="10000"/>
          </a:bodyPr>
          <a:lstStyle/>
          <a:p>
            <a:r>
              <a:rPr lang="en-US" dirty="0">
                <a:solidFill>
                  <a:schemeClr val="accent1">
                    <a:lumMod val="50000"/>
                  </a:schemeClr>
                </a:solidFill>
              </a:rPr>
              <a:t>A) ONE-WAY ANCOVA</a:t>
            </a:r>
          </a:p>
          <a:p>
            <a:r>
              <a:rPr lang="en-US" dirty="0">
                <a:solidFill>
                  <a:schemeClr val="accent1">
                    <a:lumMod val="75000"/>
                  </a:schemeClr>
                </a:solidFill>
              </a:rPr>
              <a:t>Does Price Level significantly affected by Firm Size when weighted Usage Level?</a:t>
            </a:r>
            <a:br>
              <a:rPr lang="en-US" dirty="0">
                <a:solidFill>
                  <a:schemeClr val="accent1">
                    <a:lumMod val="75000"/>
                  </a:schemeClr>
                </a:solidFill>
              </a:rPr>
            </a:br>
            <a:br>
              <a:rPr lang="en-US" sz="1100" dirty="0">
                <a:solidFill>
                  <a:schemeClr val="accent1">
                    <a:lumMod val="75000"/>
                  </a:schemeClr>
                </a:solidFill>
              </a:rPr>
            </a:br>
            <a:r>
              <a:rPr lang="en-US" sz="1500" b="1" dirty="0">
                <a:solidFill>
                  <a:schemeClr val="accent1">
                    <a:lumMod val="75000"/>
                  </a:schemeClr>
                </a:solidFill>
              </a:rPr>
              <a:t>(Price Perception vs. Firm Size) – segmentation</a:t>
            </a:r>
            <a:br>
              <a:rPr lang="en-US" sz="1500" b="1" dirty="0">
                <a:solidFill>
                  <a:schemeClr val="accent1">
                    <a:lumMod val="75000"/>
                  </a:schemeClr>
                </a:solidFill>
              </a:rPr>
            </a:br>
            <a:r>
              <a:rPr lang="en-US" sz="1500" b="1" dirty="0">
                <a:solidFill>
                  <a:schemeClr val="accent1">
                    <a:lumMod val="75000"/>
                  </a:schemeClr>
                </a:solidFill>
              </a:rPr>
              <a:t> with volume control</a:t>
            </a:r>
            <a:endParaRPr lang="en-US" b="1" dirty="0">
              <a:solidFill>
                <a:schemeClr val="accent1">
                  <a:lumMod val="75000"/>
                </a:schemeClr>
              </a:solidFill>
            </a:endParaRPr>
          </a:p>
          <a:p>
            <a:pPr>
              <a:spcBef>
                <a:spcPts val="200"/>
              </a:spcBef>
            </a:pPr>
            <a:r>
              <a:rPr lang="en-US" b="1" dirty="0"/>
              <a:t>IV: </a:t>
            </a:r>
            <a:r>
              <a:rPr lang="en-US" b="1" dirty="0" err="1"/>
              <a:t>firm_size</a:t>
            </a:r>
            <a:r>
              <a:rPr lang="en-US" b="1" dirty="0"/>
              <a:t> (3 Groups)</a:t>
            </a:r>
            <a:br>
              <a:rPr lang="en-US" b="1" dirty="0"/>
            </a:br>
            <a:r>
              <a:rPr lang="en-US" dirty="0"/>
              <a:t>(0=Small, 1=Medium, 2=Large)</a:t>
            </a:r>
          </a:p>
          <a:p>
            <a:r>
              <a:rPr lang="en-US" b="1" dirty="0"/>
              <a:t>DV: Price Level (Continuous)</a:t>
            </a:r>
            <a:br>
              <a:rPr lang="en-US" b="1" dirty="0"/>
            </a:br>
            <a:r>
              <a:rPr lang="en-US" dirty="0"/>
              <a:t>Continuous (0–10)</a:t>
            </a:r>
          </a:p>
          <a:p>
            <a:r>
              <a:rPr lang="en-US" b="1" dirty="0"/>
              <a:t>CV: Usage level (Continuous)</a:t>
            </a:r>
            <a:br>
              <a:rPr lang="en-US" b="1" dirty="0"/>
            </a:br>
            <a:r>
              <a:rPr lang="en-US" dirty="0"/>
              <a:t>Continuous (0–100)</a:t>
            </a:r>
          </a:p>
          <a:p>
            <a:endParaRPr lang="en-US" b="1" dirty="0"/>
          </a:p>
          <a:p>
            <a:endParaRPr lang="en-US" dirty="0"/>
          </a:p>
        </p:txBody>
      </p:sp>
      <p:pic>
        <p:nvPicPr>
          <p:cNvPr id="12" name="Content Placeholder 11">
            <a:extLst>
              <a:ext uri="{FF2B5EF4-FFF2-40B4-BE49-F238E27FC236}">
                <a16:creationId xmlns:a16="http://schemas.microsoft.com/office/drawing/2014/main" id="{68EDBE55-4BAC-CA73-05D8-250DB72A85B9}"/>
              </a:ext>
            </a:extLst>
          </p:cNvPr>
          <p:cNvPicPr>
            <a:picLocks noGrp="1" noChangeAspect="1"/>
          </p:cNvPicPr>
          <p:nvPr>
            <p:ph sz="half" idx="2"/>
          </p:nvPr>
        </p:nvPicPr>
        <p:blipFill>
          <a:blip r:embed="rId2"/>
          <a:stretch>
            <a:fillRect/>
          </a:stretch>
        </p:blipFill>
        <p:spPr>
          <a:xfrm>
            <a:off x="5486400" y="2262780"/>
            <a:ext cx="5668963" cy="3464327"/>
          </a:xfrm>
          <a:prstGeom prst="rect">
            <a:avLst/>
          </a:prstGeom>
        </p:spPr>
      </p:pic>
    </p:spTree>
    <p:extLst>
      <p:ext uri="{BB962C8B-B14F-4D97-AF65-F5344CB8AC3E}">
        <p14:creationId xmlns:p14="http://schemas.microsoft.com/office/powerpoint/2010/main" val="2567822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D2B43-879E-221B-0798-3D429AF59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394AF-93DD-B849-1C81-2B1F1F991951}"/>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F4D43EC6-96D6-5D03-6EB2-03B88891C666}"/>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A) ONE-WAY ANCOVA</a:t>
            </a:r>
          </a:p>
          <a:p>
            <a:r>
              <a:rPr lang="en-US" b="1" dirty="0"/>
              <a:t>Assumptions:</a:t>
            </a:r>
          </a:p>
          <a:p>
            <a:pPr marL="457200" indent="-280988">
              <a:buFont typeface="+mj-lt"/>
              <a:buAutoNum type="arabicPeriod"/>
            </a:pPr>
            <a:r>
              <a:rPr lang="en-US" b="1" dirty="0">
                <a:solidFill>
                  <a:schemeClr val="accent1">
                    <a:lumMod val="75000"/>
                  </a:schemeClr>
                </a:solidFill>
              </a:rPr>
              <a:t>Data is Normally Distributed</a:t>
            </a:r>
          </a:p>
          <a:p>
            <a:pPr marL="457200" indent="-280988">
              <a:buFont typeface="+mj-lt"/>
              <a:buAutoNum type="arabicPeriod"/>
            </a:pPr>
            <a:r>
              <a:rPr lang="en-US" b="1" dirty="0"/>
              <a:t>Data is Homogeneous </a:t>
            </a:r>
          </a:p>
          <a:p>
            <a:endParaRPr lang="en-US" dirty="0"/>
          </a:p>
        </p:txBody>
      </p:sp>
      <p:sp>
        <p:nvSpPr>
          <p:cNvPr id="4" name="Content Placeholder 3">
            <a:extLst>
              <a:ext uri="{FF2B5EF4-FFF2-40B4-BE49-F238E27FC236}">
                <a16:creationId xmlns:a16="http://schemas.microsoft.com/office/drawing/2014/main" id="{DD75EBCA-A275-5B4B-B8E8-692E1BC633C7}"/>
              </a:ext>
            </a:extLst>
          </p:cNvPr>
          <p:cNvSpPr>
            <a:spLocks noGrp="1"/>
          </p:cNvSpPr>
          <p:nvPr>
            <p:ph sz="half" idx="2"/>
          </p:nvPr>
        </p:nvSpPr>
        <p:spPr>
          <a:xfrm>
            <a:off x="1097279" y="4188113"/>
            <a:ext cx="9450647" cy="2064521"/>
          </a:xfrm>
        </p:spPr>
        <p:txBody>
          <a:bodyPr/>
          <a:lstStyle/>
          <a:p>
            <a:r>
              <a:rPr lang="en-US" dirty="0"/>
              <a:t>Hypothesis</a:t>
            </a:r>
            <a:br>
              <a:rPr lang="en-US" dirty="0"/>
            </a:br>
            <a:r>
              <a:rPr lang="en-US" dirty="0"/>
              <a:t>H</a:t>
            </a:r>
            <a:r>
              <a:rPr lang="en-US" sz="1400" dirty="0"/>
              <a:t>0</a:t>
            </a:r>
            <a:r>
              <a:rPr lang="en-US" dirty="0"/>
              <a:t>: </a:t>
            </a:r>
            <a:br>
              <a:rPr lang="en-US" dirty="0"/>
            </a:br>
            <a:r>
              <a:rPr lang="en-US" sz="1600" dirty="0"/>
              <a:t>The data is normally distributed in all 3 groups</a:t>
            </a:r>
            <a:br>
              <a:rPr lang="en-US" sz="1600" dirty="0"/>
            </a:br>
            <a:r>
              <a:rPr lang="en-US" sz="1800" dirty="0"/>
              <a:t>H</a:t>
            </a:r>
            <a:r>
              <a:rPr lang="en-US" sz="1400" dirty="0"/>
              <a:t>a</a:t>
            </a:r>
            <a:r>
              <a:rPr lang="en-US" sz="1600" dirty="0"/>
              <a:t>: </a:t>
            </a:r>
            <a:br>
              <a:rPr lang="en-US" sz="1600" dirty="0"/>
            </a:br>
            <a:r>
              <a:rPr lang="en-US" sz="1600" dirty="0"/>
              <a:t>At least the data NOT is normally distributed in ONE group.</a:t>
            </a:r>
          </a:p>
          <a:p>
            <a:r>
              <a:rPr lang="en-US" sz="1600" dirty="0">
                <a:solidFill>
                  <a:srgbClr val="C00000"/>
                </a:solidFill>
              </a:rPr>
              <a:t>All P-Values &gt; 0.05 in all 3 groups. </a:t>
            </a:r>
            <a:r>
              <a:rPr lang="en-US" sz="1600" b="1" u="sng" dirty="0">
                <a:solidFill>
                  <a:srgbClr val="C00000"/>
                </a:solidFill>
              </a:rPr>
              <a:t>So, We Accept H</a:t>
            </a:r>
            <a:r>
              <a:rPr lang="en-US" sz="1200" b="1" u="sng" dirty="0">
                <a:solidFill>
                  <a:srgbClr val="C00000"/>
                </a:solidFill>
              </a:rPr>
              <a:t>0</a:t>
            </a:r>
            <a:endParaRPr lang="en-US" sz="1600" b="1" u="sng" dirty="0">
              <a:solidFill>
                <a:srgbClr val="C00000"/>
              </a:solidFill>
            </a:endParaRPr>
          </a:p>
        </p:txBody>
      </p:sp>
      <p:pic>
        <p:nvPicPr>
          <p:cNvPr id="5" name="Content Placeholder 5">
            <a:extLst>
              <a:ext uri="{FF2B5EF4-FFF2-40B4-BE49-F238E27FC236}">
                <a16:creationId xmlns:a16="http://schemas.microsoft.com/office/drawing/2014/main" id="{8CC3F772-D844-00B1-F2C7-218F627B526D}"/>
              </a:ext>
            </a:extLst>
          </p:cNvPr>
          <p:cNvPicPr>
            <a:picLocks noChangeAspect="1"/>
          </p:cNvPicPr>
          <p:nvPr/>
        </p:nvPicPr>
        <p:blipFill>
          <a:blip r:embed="rId2"/>
          <a:stretch>
            <a:fillRect/>
          </a:stretch>
        </p:blipFill>
        <p:spPr>
          <a:xfrm>
            <a:off x="5866938" y="2120900"/>
            <a:ext cx="5706271" cy="2067213"/>
          </a:xfrm>
          <a:prstGeom prst="rect">
            <a:avLst/>
          </a:prstGeom>
        </p:spPr>
      </p:pic>
    </p:spTree>
    <p:extLst>
      <p:ext uri="{BB962C8B-B14F-4D97-AF65-F5344CB8AC3E}">
        <p14:creationId xmlns:p14="http://schemas.microsoft.com/office/powerpoint/2010/main" val="1021268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AA2B-DA27-DD28-7EB5-4586CF842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C67CF-0FCB-20B3-6A62-78EFAB0B23C1}"/>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CA06F9A3-3B5C-A149-D1E4-63121F11E706}"/>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A) ONE-WAY ANCOVA</a:t>
            </a:r>
          </a:p>
          <a:p>
            <a:r>
              <a:rPr lang="en-US" b="1" dirty="0"/>
              <a:t>Assumptions:</a:t>
            </a:r>
          </a:p>
          <a:p>
            <a:pPr marL="457200" indent="-280988">
              <a:buFont typeface="+mj-lt"/>
              <a:buAutoNum type="arabicPeriod"/>
            </a:pPr>
            <a:r>
              <a:rPr lang="en-US" b="1" dirty="0"/>
              <a:t>Data is Normally Distributed</a:t>
            </a:r>
          </a:p>
          <a:p>
            <a:pPr marL="457200" indent="-280988">
              <a:buFont typeface="+mj-lt"/>
              <a:buAutoNum type="arabicPeriod"/>
            </a:pPr>
            <a:r>
              <a:rPr lang="en-US" b="1" dirty="0">
                <a:solidFill>
                  <a:schemeClr val="accent1">
                    <a:lumMod val="75000"/>
                  </a:schemeClr>
                </a:solidFill>
              </a:rPr>
              <a:t>Data is Homogeneous </a:t>
            </a:r>
          </a:p>
          <a:p>
            <a:endParaRPr lang="en-US" dirty="0"/>
          </a:p>
        </p:txBody>
      </p:sp>
      <p:sp>
        <p:nvSpPr>
          <p:cNvPr id="4" name="Content Placeholder 3">
            <a:extLst>
              <a:ext uri="{FF2B5EF4-FFF2-40B4-BE49-F238E27FC236}">
                <a16:creationId xmlns:a16="http://schemas.microsoft.com/office/drawing/2014/main" id="{179079EB-F150-C78D-5CBC-64F38244A15A}"/>
              </a:ext>
            </a:extLst>
          </p:cNvPr>
          <p:cNvSpPr>
            <a:spLocks noGrp="1"/>
          </p:cNvSpPr>
          <p:nvPr>
            <p:ph sz="half" idx="2"/>
          </p:nvPr>
        </p:nvSpPr>
        <p:spPr>
          <a:xfrm>
            <a:off x="701965" y="4188113"/>
            <a:ext cx="10741890" cy="2064521"/>
          </a:xfrm>
        </p:spPr>
        <p:txBody>
          <a:bodyPr>
            <a:normAutofit/>
          </a:bodyPr>
          <a:lstStyle/>
          <a:p>
            <a:r>
              <a:rPr lang="en-US" dirty="0"/>
              <a:t>Hypothesis</a:t>
            </a:r>
            <a:br>
              <a:rPr lang="en-US" dirty="0"/>
            </a:br>
            <a:r>
              <a:rPr lang="en-US" dirty="0"/>
              <a:t>H</a:t>
            </a:r>
            <a:r>
              <a:rPr lang="en-US" sz="1400" dirty="0"/>
              <a:t>0</a:t>
            </a:r>
            <a:r>
              <a:rPr lang="en-US" dirty="0"/>
              <a:t>: </a:t>
            </a:r>
            <a:br>
              <a:rPr lang="en-US" dirty="0"/>
            </a:br>
            <a:r>
              <a:rPr lang="en-US" sz="1300" b="1" dirty="0" err="1"/>
              <a:t>price_level</a:t>
            </a:r>
            <a:r>
              <a:rPr lang="en-US" sz="1300" b="1" dirty="0"/>
              <a:t> Sig2, Small Adjusted by </a:t>
            </a:r>
            <a:r>
              <a:rPr lang="en-US" sz="1300" b="1" dirty="0" err="1"/>
              <a:t>usage_level</a:t>
            </a:r>
            <a:r>
              <a:rPr lang="en-US" sz="1300" b="1" dirty="0"/>
              <a:t>  = </a:t>
            </a:r>
            <a:r>
              <a:rPr lang="en-US" sz="1300" b="1" dirty="0" err="1"/>
              <a:t>price_level</a:t>
            </a:r>
            <a:r>
              <a:rPr lang="en-US" sz="1300" b="1" dirty="0"/>
              <a:t> Sig2, Medium Adjusted by </a:t>
            </a:r>
            <a:r>
              <a:rPr lang="en-US" sz="1300" b="1" dirty="0" err="1"/>
              <a:t>usage_level</a:t>
            </a:r>
            <a:r>
              <a:rPr lang="en-US" sz="1300" b="1" dirty="0"/>
              <a:t> = </a:t>
            </a:r>
            <a:r>
              <a:rPr lang="en-US" sz="1300" b="1" dirty="0" err="1"/>
              <a:t>price_level</a:t>
            </a:r>
            <a:r>
              <a:rPr lang="en-US" sz="1300" b="1" dirty="0"/>
              <a:t> Sig2, Large Adjusted by </a:t>
            </a:r>
            <a:r>
              <a:rPr lang="en-US" sz="1300" b="1" dirty="0" err="1"/>
              <a:t>usage_level</a:t>
            </a:r>
            <a:r>
              <a:rPr lang="en-US" sz="1300" b="1" dirty="0"/>
              <a:t> </a:t>
            </a:r>
            <a:br>
              <a:rPr lang="en-US" sz="1600" dirty="0"/>
            </a:br>
            <a:r>
              <a:rPr lang="en-US" sz="1800" dirty="0"/>
              <a:t>H</a:t>
            </a:r>
            <a:r>
              <a:rPr lang="en-US" sz="1400" dirty="0"/>
              <a:t>a</a:t>
            </a:r>
            <a:r>
              <a:rPr lang="en-US" sz="1600" dirty="0"/>
              <a:t>: </a:t>
            </a:r>
            <a:br>
              <a:rPr lang="en-US" sz="1600" dirty="0"/>
            </a:br>
            <a:r>
              <a:rPr lang="en-US" sz="1600" dirty="0"/>
              <a:t>At least TWO Sig2 are NOT Equal</a:t>
            </a:r>
          </a:p>
          <a:p>
            <a:r>
              <a:rPr lang="en-US" sz="1600" dirty="0">
                <a:solidFill>
                  <a:srgbClr val="C00000"/>
                </a:solidFill>
              </a:rPr>
              <a:t>All P-Values &gt; 0.05 So, </a:t>
            </a:r>
            <a:r>
              <a:rPr lang="en-US" sz="1600" b="1" u="sng" dirty="0">
                <a:solidFill>
                  <a:srgbClr val="C00000"/>
                </a:solidFill>
              </a:rPr>
              <a:t>We Accept H</a:t>
            </a:r>
            <a:r>
              <a:rPr lang="en-US" sz="1200" b="1" u="sng" dirty="0">
                <a:solidFill>
                  <a:srgbClr val="C00000"/>
                </a:solidFill>
              </a:rPr>
              <a:t>0</a:t>
            </a:r>
            <a:endParaRPr lang="en-US" sz="1600" b="1" u="sng" dirty="0">
              <a:solidFill>
                <a:srgbClr val="C00000"/>
              </a:solidFill>
            </a:endParaRPr>
          </a:p>
        </p:txBody>
      </p:sp>
      <p:pic>
        <p:nvPicPr>
          <p:cNvPr id="5" name="Picture 4">
            <a:extLst>
              <a:ext uri="{FF2B5EF4-FFF2-40B4-BE49-F238E27FC236}">
                <a16:creationId xmlns:a16="http://schemas.microsoft.com/office/drawing/2014/main" id="{CC3A3DE0-CBAC-7FF1-914E-6022CD0531D4}"/>
              </a:ext>
            </a:extLst>
          </p:cNvPr>
          <p:cNvPicPr>
            <a:picLocks noChangeAspect="1"/>
          </p:cNvPicPr>
          <p:nvPr/>
        </p:nvPicPr>
        <p:blipFill>
          <a:blip r:embed="rId2"/>
          <a:stretch>
            <a:fillRect/>
          </a:stretch>
        </p:blipFill>
        <p:spPr>
          <a:xfrm>
            <a:off x="5198568" y="2120900"/>
            <a:ext cx="5709577" cy="2727994"/>
          </a:xfrm>
          <a:prstGeom prst="rect">
            <a:avLst/>
          </a:prstGeom>
        </p:spPr>
      </p:pic>
    </p:spTree>
    <p:extLst>
      <p:ext uri="{BB962C8B-B14F-4D97-AF65-F5344CB8AC3E}">
        <p14:creationId xmlns:p14="http://schemas.microsoft.com/office/powerpoint/2010/main" val="1054659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B0E12-2088-367A-FAEC-0E72FCDDC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4B8FE-DF16-8855-2208-90C3A87B79B8}"/>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A3719B06-534E-69DB-450F-8F415553D92C}"/>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A) ONE-WAY ANCOVA</a:t>
            </a:r>
          </a:p>
          <a:p>
            <a:r>
              <a:rPr lang="en-US" b="1" dirty="0"/>
              <a:t>Model Test:</a:t>
            </a:r>
          </a:p>
          <a:p>
            <a:pPr marL="0" indent="0">
              <a:buNone/>
            </a:pPr>
            <a:endParaRPr lang="en-US" dirty="0"/>
          </a:p>
        </p:txBody>
      </p:sp>
      <p:sp>
        <p:nvSpPr>
          <p:cNvPr id="4" name="Content Placeholder 3">
            <a:extLst>
              <a:ext uri="{FF2B5EF4-FFF2-40B4-BE49-F238E27FC236}">
                <a16:creationId xmlns:a16="http://schemas.microsoft.com/office/drawing/2014/main" id="{7C25638F-5C7E-FA2E-05A0-21D68F01D6B1}"/>
              </a:ext>
            </a:extLst>
          </p:cNvPr>
          <p:cNvSpPr>
            <a:spLocks noGrp="1"/>
          </p:cNvSpPr>
          <p:nvPr>
            <p:ph sz="half" idx="2"/>
          </p:nvPr>
        </p:nvSpPr>
        <p:spPr>
          <a:xfrm>
            <a:off x="443346" y="4188113"/>
            <a:ext cx="11111346" cy="2064521"/>
          </a:xfrm>
        </p:spPr>
        <p:txBody>
          <a:bodyPr>
            <a:normAutofit/>
          </a:bodyPr>
          <a:lstStyle/>
          <a:p>
            <a:r>
              <a:rPr lang="en-US" dirty="0"/>
              <a:t>Hypothesis</a:t>
            </a:r>
            <a:br>
              <a:rPr lang="en-US" dirty="0"/>
            </a:br>
            <a:r>
              <a:rPr lang="en-US" dirty="0"/>
              <a:t>H</a:t>
            </a:r>
            <a:r>
              <a:rPr lang="en-US" sz="1400" dirty="0"/>
              <a:t>0</a:t>
            </a:r>
            <a:r>
              <a:rPr lang="en-US" dirty="0"/>
              <a:t>: </a:t>
            </a:r>
            <a:br>
              <a:rPr lang="en-US" dirty="0"/>
            </a:br>
            <a:r>
              <a:rPr lang="en-US" sz="1400" b="1" dirty="0" err="1"/>
              <a:t>price_level</a:t>
            </a:r>
            <a:r>
              <a:rPr lang="en-US" sz="1400" b="1" dirty="0"/>
              <a:t> Mu, Small Adjusted by </a:t>
            </a:r>
            <a:r>
              <a:rPr lang="en-US" sz="1400" b="1" dirty="0" err="1"/>
              <a:t>usage_level</a:t>
            </a:r>
            <a:r>
              <a:rPr lang="en-US" sz="1400" b="1" dirty="0"/>
              <a:t> = </a:t>
            </a:r>
            <a:r>
              <a:rPr lang="en-US" sz="1400" b="1" dirty="0" err="1"/>
              <a:t>price_level</a:t>
            </a:r>
            <a:r>
              <a:rPr lang="en-US" sz="1400" b="1" dirty="0"/>
              <a:t> Mu, Medium Adjusted by </a:t>
            </a:r>
            <a:r>
              <a:rPr lang="en-US" sz="1400" b="1" dirty="0" err="1"/>
              <a:t>usage_level</a:t>
            </a:r>
            <a:r>
              <a:rPr lang="en-US" sz="1400" b="1" dirty="0"/>
              <a:t> = </a:t>
            </a:r>
            <a:r>
              <a:rPr lang="en-US" sz="1400" b="1" dirty="0" err="1"/>
              <a:t>price_level</a:t>
            </a:r>
            <a:r>
              <a:rPr lang="en-US" sz="1400" b="1" dirty="0"/>
              <a:t> Mu, Large Adjusted by </a:t>
            </a:r>
            <a:r>
              <a:rPr lang="en-US" sz="1400" b="1" dirty="0" err="1"/>
              <a:t>usage_level</a:t>
            </a:r>
            <a:r>
              <a:rPr lang="en-US" sz="1400" b="1" dirty="0"/>
              <a:t> </a:t>
            </a:r>
            <a:br>
              <a:rPr lang="en-US" sz="1600" dirty="0"/>
            </a:br>
            <a:r>
              <a:rPr lang="en-US" sz="1800" dirty="0"/>
              <a:t>H</a:t>
            </a:r>
            <a:r>
              <a:rPr lang="en-US" sz="1400" dirty="0"/>
              <a:t>a</a:t>
            </a:r>
            <a:r>
              <a:rPr lang="en-US" sz="1600" dirty="0"/>
              <a:t>: </a:t>
            </a:r>
            <a:br>
              <a:rPr lang="en-US" sz="1600" dirty="0"/>
            </a:br>
            <a:r>
              <a:rPr lang="en-US" sz="1600" dirty="0"/>
              <a:t>At least TWO Mu are NOT Equal</a:t>
            </a:r>
          </a:p>
          <a:p>
            <a:r>
              <a:rPr lang="en-US" sz="1600" dirty="0">
                <a:solidFill>
                  <a:srgbClr val="C00000"/>
                </a:solidFill>
              </a:rPr>
              <a:t>P-Values &lt; 0.05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endParaRPr lang="en-US" sz="1600" b="1" u="sng" dirty="0">
              <a:solidFill>
                <a:srgbClr val="C00000"/>
              </a:solidFill>
            </a:endParaRPr>
          </a:p>
        </p:txBody>
      </p:sp>
      <p:pic>
        <p:nvPicPr>
          <p:cNvPr id="8" name="Picture 7">
            <a:extLst>
              <a:ext uri="{FF2B5EF4-FFF2-40B4-BE49-F238E27FC236}">
                <a16:creationId xmlns:a16="http://schemas.microsoft.com/office/drawing/2014/main" id="{69EEFFA6-2D34-9003-B048-612EE0378EBA}"/>
              </a:ext>
            </a:extLst>
          </p:cNvPr>
          <p:cNvPicPr>
            <a:picLocks noChangeAspect="1"/>
          </p:cNvPicPr>
          <p:nvPr/>
        </p:nvPicPr>
        <p:blipFill>
          <a:blip r:embed="rId2"/>
          <a:stretch>
            <a:fillRect/>
          </a:stretch>
        </p:blipFill>
        <p:spPr>
          <a:xfrm>
            <a:off x="5736924" y="2120900"/>
            <a:ext cx="4533912" cy="2460441"/>
          </a:xfrm>
          <a:prstGeom prst="rect">
            <a:avLst/>
          </a:prstGeom>
        </p:spPr>
      </p:pic>
    </p:spTree>
    <p:extLst>
      <p:ext uri="{BB962C8B-B14F-4D97-AF65-F5344CB8AC3E}">
        <p14:creationId xmlns:p14="http://schemas.microsoft.com/office/powerpoint/2010/main" val="1263843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800A-BD41-5286-A179-A253857E3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E3A9A-75CB-ED0C-5B7A-31D27E1E78D6}"/>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CAADB7C6-DCF4-AC6B-1FE1-CA649E742CC8}"/>
              </a:ext>
            </a:extLst>
          </p:cNvPr>
          <p:cNvSpPr>
            <a:spLocks noGrp="1"/>
          </p:cNvSpPr>
          <p:nvPr>
            <p:ph sz="half" idx="1"/>
          </p:nvPr>
        </p:nvSpPr>
        <p:spPr>
          <a:xfrm>
            <a:off x="1097280" y="2120901"/>
            <a:ext cx="5864113" cy="1019464"/>
          </a:xfrm>
        </p:spPr>
        <p:txBody>
          <a:bodyPr>
            <a:normAutofit/>
          </a:bodyPr>
          <a:lstStyle/>
          <a:p>
            <a:r>
              <a:rPr lang="en-US" dirty="0">
                <a:solidFill>
                  <a:schemeClr val="accent1">
                    <a:lumMod val="50000"/>
                  </a:schemeClr>
                </a:solidFill>
              </a:rPr>
              <a:t>A) ONE-WAY ANCOVA</a:t>
            </a:r>
          </a:p>
          <a:p>
            <a:r>
              <a:rPr lang="en-US" b="1" dirty="0"/>
              <a:t>Post-Hoc Test: </a:t>
            </a:r>
            <a:r>
              <a:rPr lang="en-US" b="1" dirty="0">
                <a:solidFill>
                  <a:srgbClr val="C00000"/>
                </a:solidFill>
              </a:rPr>
              <a:t>(all Adjusted by </a:t>
            </a:r>
            <a:r>
              <a:rPr lang="en-US" b="1" dirty="0" err="1">
                <a:solidFill>
                  <a:srgbClr val="C00000"/>
                </a:solidFill>
              </a:rPr>
              <a:t>usage_level</a:t>
            </a:r>
            <a:r>
              <a:rPr lang="en-US" b="1" dirty="0">
                <a:solidFill>
                  <a:srgbClr val="C00000"/>
                </a:solidFill>
              </a:rPr>
              <a:t>)</a:t>
            </a:r>
          </a:p>
          <a:p>
            <a:pPr marL="0" indent="0">
              <a:buNone/>
            </a:pPr>
            <a:endParaRPr lang="en-US" dirty="0"/>
          </a:p>
        </p:txBody>
      </p:sp>
      <p:sp>
        <p:nvSpPr>
          <p:cNvPr id="4" name="Content Placeholder 3">
            <a:extLst>
              <a:ext uri="{FF2B5EF4-FFF2-40B4-BE49-F238E27FC236}">
                <a16:creationId xmlns:a16="http://schemas.microsoft.com/office/drawing/2014/main" id="{BC7F404B-3DAA-24EE-B23C-B262A0FD63C6}"/>
              </a:ext>
            </a:extLst>
          </p:cNvPr>
          <p:cNvSpPr>
            <a:spLocks noGrp="1"/>
          </p:cNvSpPr>
          <p:nvPr>
            <p:ph sz="half" idx="2"/>
          </p:nvPr>
        </p:nvSpPr>
        <p:spPr>
          <a:xfrm>
            <a:off x="554181" y="3029527"/>
            <a:ext cx="4919783" cy="3223107"/>
          </a:xfrm>
        </p:spPr>
        <p:txBody>
          <a:bodyPr>
            <a:normAutofit/>
          </a:bodyPr>
          <a:lstStyle/>
          <a:p>
            <a:r>
              <a:rPr lang="en-US" dirty="0"/>
              <a:t>H</a:t>
            </a:r>
            <a:r>
              <a:rPr lang="en-US" sz="1400" dirty="0"/>
              <a:t>0</a:t>
            </a:r>
            <a:r>
              <a:rPr lang="en-US" dirty="0"/>
              <a:t>: </a:t>
            </a:r>
            <a:r>
              <a:rPr lang="en-US" sz="1600" dirty="0" err="1"/>
              <a:t>price_level</a:t>
            </a:r>
            <a:r>
              <a:rPr lang="en-US" sz="1600" dirty="0"/>
              <a:t> Mu, Small = </a:t>
            </a:r>
            <a:r>
              <a:rPr lang="en-US" sz="1600" dirty="0" err="1"/>
              <a:t>price_level</a:t>
            </a:r>
            <a:r>
              <a:rPr lang="en-US" sz="1600" dirty="0"/>
              <a:t> Mu, Medium</a:t>
            </a:r>
            <a:br>
              <a:rPr lang="en-US" sz="1600" dirty="0"/>
            </a:br>
            <a:r>
              <a:rPr lang="en-US" sz="1800" dirty="0"/>
              <a:t>H</a:t>
            </a:r>
            <a:r>
              <a:rPr lang="en-US" sz="1400" dirty="0"/>
              <a:t>a</a:t>
            </a:r>
            <a:r>
              <a:rPr lang="en-US" sz="1600" dirty="0"/>
              <a:t>: </a:t>
            </a:r>
            <a:r>
              <a:rPr lang="en-US" sz="1600" dirty="0" err="1"/>
              <a:t>price_level</a:t>
            </a:r>
            <a:r>
              <a:rPr lang="en-US" sz="1600" dirty="0"/>
              <a:t> Mu, Small =! </a:t>
            </a:r>
            <a:r>
              <a:rPr lang="en-US" sz="1600" dirty="0" err="1"/>
              <a:t>price_level</a:t>
            </a:r>
            <a:r>
              <a:rPr lang="en-US" sz="1600" dirty="0"/>
              <a:t> Mu, Medium</a:t>
            </a:r>
            <a:br>
              <a:rPr lang="en-US" sz="1600" dirty="0"/>
            </a:br>
            <a:r>
              <a:rPr lang="en-US" sz="1600" dirty="0">
                <a:solidFill>
                  <a:srgbClr val="C00000"/>
                </a:solidFill>
              </a:rPr>
              <a:t>P-Values = 0.025,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endParaRPr lang="en-US" sz="1600" dirty="0">
              <a:solidFill>
                <a:srgbClr val="C00000"/>
              </a:solidFill>
            </a:endParaRPr>
          </a:p>
          <a:p>
            <a:r>
              <a:rPr lang="en-US" sz="1600" dirty="0"/>
              <a:t>H</a:t>
            </a:r>
            <a:r>
              <a:rPr lang="en-US" sz="1400" dirty="0"/>
              <a:t>0</a:t>
            </a:r>
            <a:r>
              <a:rPr lang="en-US" sz="1600" dirty="0"/>
              <a:t>: </a:t>
            </a:r>
            <a:r>
              <a:rPr lang="en-US" sz="1600" dirty="0" err="1"/>
              <a:t>price_level</a:t>
            </a:r>
            <a:r>
              <a:rPr lang="en-US" sz="1600" dirty="0"/>
              <a:t> Mu, Small = </a:t>
            </a:r>
            <a:r>
              <a:rPr lang="en-US" sz="1600" dirty="0" err="1"/>
              <a:t>price_level</a:t>
            </a:r>
            <a:r>
              <a:rPr lang="en-US" sz="1600" dirty="0"/>
              <a:t> Mu, Large</a:t>
            </a:r>
            <a:br>
              <a:rPr lang="en-US" sz="1600" dirty="0"/>
            </a:br>
            <a:r>
              <a:rPr lang="en-US" sz="1800" dirty="0"/>
              <a:t>H</a:t>
            </a:r>
            <a:r>
              <a:rPr lang="en-US" sz="1400" dirty="0"/>
              <a:t>a</a:t>
            </a:r>
            <a:r>
              <a:rPr lang="en-US" sz="1600" dirty="0"/>
              <a:t>: </a:t>
            </a:r>
            <a:r>
              <a:rPr lang="en-US" sz="1600" dirty="0" err="1"/>
              <a:t>price_level</a:t>
            </a:r>
            <a:r>
              <a:rPr lang="en-US" sz="1600" dirty="0"/>
              <a:t> Mu, Small =! </a:t>
            </a:r>
            <a:r>
              <a:rPr lang="en-US" sz="1600" dirty="0" err="1"/>
              <a:t>price_level</a:t>
            </a:r>
            <a:r>
              <a:rPr lang="en-US" sz="1600" dirty="0"/>
              <a:t> Mu, Large</a:t>
            </a:r>
            <a:br>
              <a:rPr lang="en-US" sz="1600" dirty="0"/>
            </a:br>
            <a:r>
              <a:rPr lang="en-US" sz="1600" dirty="0">
                <a:solidFill>
                  <a:srgbClr val="C00000"/>
                </a:solidFill>
              </a:rPr>
              <a:t>P-Values = 0.949, So, </a:t>
            </a:r>
            <a:r>
              <a:rPr lang="en-US" sz="1600" b="1" u="sng" dirty="0">
                <a:solidFill>
                  <a:srgbClr val="C00000"/>
                </a:solidFill>
              </a:rPr>
              <a:t>We Accept H</a:t>
            </a:r>
            <a:r>
              <a:rPr lang="en-US" sz="1200" b="1" u="sng" dirty="0">
                <a:solidFill>
                  <a:srgbClr val="C00000"/>
                </a:solidFill>
              </a:rPr>
              <a:t>0</a:t>
            </a:r>
          </a:p>
          <a:p>
            <a:r>
              <a:rPr lang="en-US" sz="1600" dirty="0"/>
              <a:t>H</a:t>
            </a:r>
            <a:r>
              <a:rPr lang="en-US" sz="1400" dirty="0"/>
              <a:t>0</a:t>
            </a:r>
            <a:r>
              <a:rPr lang="en-US" sz="1600" dirty="0"/>
              <a:t>: </a:t>
            </a:r>
            <a:r>
              <a:rPr lang="en-US" sz="1600" dirty="0" err="1"/>
              <a:t>price_level</a:t>
            </a:r>
            <a:r>
              <a:rPr lang="en-US" sz="1600" dirty="0"/>
              <a:t> Mu, Medium = </a:t>
            </a:r>
            <a:r>
              <a:rPr lang="en-US" sz="1600" dirty="0" err="1"/>
              <a:t>price_level</a:t>
            </a:r>
            <a:r>
              <a:rPr lang="en-US" sz="1600" dirty="0"/>
              <a:t> Mu, Large</a:t>
            </a:r>
            <a:br>
              <a:rPr lang="en-US" sz="1600" dirty="0"/>
            </a:br>
            <a:r>
              <a:rPr lang="en-US" sz="1800" dirty="0"/>
              <a:t>H</a:t>
            </a:r>
            <a:r>
              <a:rPr lang="en-US" sz="1400" dirty="0"/>
              <a:t>a</a:t>
            </a:r>
            <a:r>
              <a:rPr lang="en-US" sz="1600" dirty="0"/>
              <a:t>: </a:t>
            </a:r>
            <a:r>
              <a:rPr lang="en-US" sz="1600" dirty="0" err="1"/>
              <a:t>price_level</a:t>
            </a:r>
            <a:r>
              <a:rPr lang="en-US" sz="1600" dirty="0"/>
              <a:t> Mu, Medium =! </a:t>
            </a:r>
            <a:r>
              <a:rPr lang="en-US" sz="1600" dirty="0" err="1"/>
              <a:t>price_level</a:t>
            </a:r>
            <a:r>
              <a:rPr lang="en-US" sz="1600" dirty="0"/>
              <a:t> Mu, Large</a:t>
            </a:r>
            <a:br>
              <a:rPr lang="en-US" sz="1600" dirty="0"/>
            </a:br>
            <a:r>
              <a:rPr lang="en-US" sz="1600" dirty="0">
                <a:solidFill>
                  <a:srgbClr val="C00000"/>
                </a:solidFill>
              </a:rPr>
              <a:t>P-Values = 0.021,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p>
          <a:p>
            <a:pPr marL="0" indent="0">
              <a:buNone/>
            </a:pPr>
            <a:endParaRPr lang="en-US" sz="1600" dirty="0"/>
          </a:p>
        </p:txBody>
      </p:sp>
      <p:pic>
        <p:nvPicPr>
          <p:cNvPr id="5" name="Picture 4">
            <a:extLst>
              <a:ext uri="{FF2B5EF4-FFF2-40B4-BE49-F238E27FC236}">
                <a16:creationId xmlns:a16="http://schemas.microsoft.com/office/drawing/2014/main" id="{FF0B59AE-51FC-5106-4353-D8BFD15A9AC1}"/>
              </a:ext>
            </a:extLst>
          </p:cNvPr>
          <p:cNvPicPr>
            <a:picLocks noChangeAspect="1"/>
          </p:cNvPicPr>
          <p:nvPr/>
        </p:nvPicPr>
        <p:blipFill>
          <a:blip r:embed="rId2"/>
          <a:stretch>
            <a:fillRect/>
          </a:stretch>
        </p:blipFill>
        <p:spPr>
          <a:xfrm>
            <a:off x="5773706" y="2247842"/>
            <a:ext cx="5864113" cy="3868908"/>
          </a:xfrm>
          <a:prstGeom prst="rect">
            <a:avLst/>
          </a:prstGeom>
        </p:spPr>
      </p:pic>
    </p:spTree>
    <p:extLst>
      <p:ext uri="{BB962C8B-B14F-4D97-AF65-F5344CB8AC3E}">
        <p14:creationId xmlns:p14="http://schemas.microsoft.com/office/powerpoint/2010/main" val="2674628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5F490-3BC6-9D09-72CC-AF70E849928F}"/>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868464C-2104-7555-4838-84C9751DA30B}"/>
              </a:ext>
            </a:extLst>
          </p:cNvPr>
          <p:cNvSpPr>
            <a:spLocks noGrp="1"/>
          </p:cNvSpPr>
          <p:nvPr>
            <p:ph type="pic" idx="1"/>
          </p:nvPr>
        </p:nvSpPr>
        <p:spPr/>
      </p:sp>
      <p:sp>
        <p:nvSpPr>
          <p:cNvPr id="3" name="Title 2">
            <a:extLst>
              <a:ext uri="{FF2B5EF4-FFF2-40B4-BE49-F238E27FC236}">
                <a16:creationId xmlns:a16="http://schemas.microsoft.com/office/drawing/2014/main" id="{3B173D55-5263-EB07-B062-D0E94F0B8F3A}"/>
              </a:ext>
            </a:extLst>
          </p:cNvPr>
          <p:cNvSpPr>
            <a:spLocks noGrp="1"/>
          </p:cNvSpPr>
          <p:nvPr>
            <p:ph type="title"/>
          </p:nvPr>
        </p:nvSpPr>
        <p:spPr>
          <a:xfrm>
            <a:off x="1097279" y="868217"/>
            <a:ext cx="10113645" cy="1996280"/>
          </a:xfrm>
        </p:spPr>
        <p:txBody>
          <a:bodyPr/>
          <a:lstStyle/>
          <a:p>
            <a:r>
              <a:rPr lang="en-US" sz="4000" dirty="0">
                <a:solidFill>
                  <a:schemeClr val="tx1"/>
                </a:solidFill>
              </a:rPr>
              <a:t>Section (3): </a:t>
            </a:r>
            <a:br>
              <a:rPr lang="en-US" sz="4000" dirty="0">
                <a:solidFill>
                  <a:schemeClr val="tx1"/>
                </a:solidFill>
              </a:rPr>
            </a:br>
            <a:r>
              <a:rPr lang="en-US" sz="4000" dirty="0">
                <a:solidFill>
                  <a:schemeClr val="tx1"/>
                </a:solidFill>
              </a:rPr>
              <a:t>Modeling and in-depth Analysis</a:t>
            </a:r>
          </a:p>
        </p:txBody>
      </p:sp>
      <p:sp>
        <p:nvSpPr>
          <p:cNvPr id="4" name="Text Placeholder 3">
            <a:extLst>
              <a:ext uri="{FF2B5EF4-FFF2-40B4-BE49-F238E27FC236}">
                <a16:creationId xmlns:a16="http://schemas.microsoft.com/office/drawing/2014/main" id="{D90116D0-8548-9DA1-B692-CFB6394A3C26}"/>
              </a:ext>
            </a:extLst>
          </p:cNvPr>
          <p:cNvSpPr>
            <a:spLocks noGrp="1"/>
          </p:cNvSpPr>
          <p:nvPr>
            <p:ph type="body" sz="half" idx="2"/>
          </p:nvPr>
        </p:nvSpPr>
        <p:spPr>
          <a:xfrm>
            <a:off x="1097279" y="4920677"/>
            <a:ext cx="10113264" cy="609600"/>
          </a:xfrm>
        </p:spPr>
        <p:txBody>
          <a:bodyPr>
            <a:normAutofit/>
          </a:bodyPr>
          <a:lstStyle/>
          <a:p>
            <a:pPr algn="ctr"/>
            <a:r>
              <a:rPr lang="en-US" sz="2800" b="1" dirty="0">
                <a:solidFill>
                  <a:schemeClr val="accent3">
                    <a:lumMod val="75000"/>
                  </a:schemeClr>
                </a:solidFill>
                <a:latin typeface="+mj-lt"/>
              </a:rPr>
              <a:t>ONE-WAY MANOVA</a:t>
            </a:r>
          </a:p>
        </p:txBody>
      </p:sp>
    </p:spTree>
    <p:extLst>
      <p:ext uri="{BB962C8B-B14F-4D97-AF65-F5344CB8AC3E}">
        <p14:creationId xmlns:p14="http://schemas.microsoft.com/office/powerpoint/2010/main" val="69532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6A72-EACA-FFF3-6F8B-D93C1DE40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7F9C5-66EE-40A9-628E-BEFD7A0719E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56D0C6D0-82C5-6271-4513-046937A08388}"/>
              </a:ext>
            </a:extLst>
          </p:cNvPr>
          <p:cNvSpPr>
            <a:spLocks noGrp="1"/>
          </p:cNvSpPr>
          <p:nvPr>
            <p:ph sz="half" idx="1"/>
          </p:nvPr>
        </p:nvSpPr>
        <p:spPr>
          <a:xfrm>
            <a:off x="1115752" y="2167080"/>
            <a:ext cx="5442066" cy="3748194"/>
          </a:xfrm>
        </p:spPr>
        <p:txBody>
          <a:bodyPr>
            <a:normAutofit fontScale="85000" lnSpcReduction="20000"/>
          </a:bodyPr>
          <a:lstStyle/>
          <a:p>
            <a:r>
              <a:rPr lang="en-US" dirty="0">
                <a:solidFill>
                  <a:schemeClr val="accent1">
                    <a:lumMod val="50000"/>
                  </a:schemeClr>
                </a:solidFill>
              </a:rPr>
              <a:t>B) ONE-WAY MANOVA</a:t>
            </a:r>
          </a:p>
          <a:p>
            <a:r>
              <a:rPr lang="en-US" dirty="0">
                <a:solidFill>
                  <a:schemeClr val="accent1">
                    <a:lumMod val="75000"/>
                  </a:schemeClr>
                </a:solidFill>
              </a:rPr>
              <a:t>Do Salesforce Image and Manufacturer Image combined significantly affected by Buying Situation?</a:t>
            </a:r>
            <a:br>
              <a:rPr lang="en-US" dirty="0">
                <a:solidFill>
                  <a:schemeClr val="accent1">
                    <a:lumMod val="75000"/>
                  </a:schemeClr>
                </a:solidFill>
              </a:rPr>
            </a:br>
            <a:br>
              <a:rPr lang="en-US" sz="1300" dirty="0">
                <a:solidFill>
                  <a:schemeClr val="accent1">
                    <a:lumMod val="75000"/>
                  </a:schemeClr>
                </a:solidFill>
              </a:rPr>
            </a:br>
            <a:r>
              <a:rPr lang="en-US" sz="1600" b="1" dirty="0">
                <a:solidFill>
                  <a:schemeClr val="accent1">
                    <a:lumMod val="75000"/>
                  </a:schemeClr>
                </a:solidFill>
              </a:rPr>
              <a:t>(Buying Transaction vs. Image Perceptions) - Stability</a:t>
            </a:r>
            <a:endParaRPr lang="en-US" b="1" dirty="0">
              <a:solidFill>
                <a:schemeClr val="accent1">
                  <a:lumMod val="75000"/>
                </a:schemeClr>
              </a:solidFill>
            </a:endParaRPr>
          </a:p>
          <a:p>
            <a:r>
              <a:rPr lang="en-US" b="1" dirty="0"/>
              <a:t>IV: </a:t>
            </a:r>
            <a:r>
              <a:rPr lang="en-US" b="1" dirty="0" err="1"/>
              <a:t>buying_situation</a:t>
            </a:r>
            <a:r>
              <a:rPr lang="en-US" b="1" dirty="0"/>
              <a:t>(3 Groups)</a:t>
            </a:r>
            <a:br>
              <a:rPr lang="en-US" b="1" dirty="0"/>
            </a:br>
            <a:r>
              <a:rPr lang="en-US" dirty="0"/>
              <a:t>(0=New task, 1=Modified re-buy, 2=Straight re-buy)</a:t>
            </a:r>
          </a:p>
          <a:p>
            <a:r>
              <a:rPr lang="en-US" b="1" dirty="0"/>
              <a:t>DVs: (Continuous)</a:t>
            </a:r>
          </a:p>
          <a:p>
            <a:pPr marL="457200" indent="-457200">
              <a:buFont typeface="+mj-lt"/>
              <a:buAutoNum type="arabicPeriod"/>
            </a:pPr>
            <a:r>
              <a:rPr lang="en-US" b="1" dirty="0" err="1"/>
              <a:t>salesforce_image</a:t>
            </a:r>
            <a:br>
              <a:rPr lang="en-US" b="1" dirty="0"/>
            </a:br>
            <a:r>
              <a:rPr lang="en-US" dirty="0"/>
              <a:t>Continuous (0–5)</a:t>
            </a:r>
          </a:p>
          <a:p>
            <a:pPr marL="457200" indent="-457200">
              <a:buFont typeface="+mj-lt"/>
              <a:buAutoNum type="arabicPeriod"/>
            </a:pPr>
            <a:r>
              <a:rPr lang="en-US" b="1" dirty="0" err="1"/>
              <a:t>manufacturer_image</a:t>
            </a:r>
            <a:br>
              <a:rPr lang="en-US" b="1" dirty="0"/>
            </a:br>
            <a:r>
              <a:rPr lang="en-US" dirty="0"/>
              <a:t>Continuous (0–10)</a:t>
            </a:r>
            <a:endParaRPr lang="en-US" b="1" dirty="0"/>
          </a:p>
          <a:p>
            <a:endParaRPr lang="en-US" dirty="0"/>
          </a:p>
        </p:txBody>
      </p:sp>
      <p:pic>
        <p:nvPicPr>
          <p:cNvPr id="12" name="Content Placeholder 11">
            <a:extLst>
              <a:ext uri="{FF2B5EF4-FFF2-40B4-BE49-F238E27FC236}">
                <a16:creationId xmlns:a16="http://schemas.microsoft.com/office/drawing/2014/main" id="{608B19FD-1E39-1291-B7DC-C226BBE18BE5}"/>
              </a:ext>
            </a:extLst>
          </p:cNvPr>
          <p:cNvPicPr>
            <a:picLocks noGrp="1" noChangeAspect="1"/>
          </p:cNvPicPr>
          <p:nvPr>
            <p:ph sz="half" idx="2"/>
          </p:nvPr>
        </p:nvPicPr>
        <p:blipFill>
          <a:blip r:embed="rId2"/>
          <a:stretch>
            <a:fillRect/>
          </a:stretch>
        </p:blipFill>
        <p:spPr>
          <a:xfrm>
            <a:off x="6516688" y="2177370"/>
            <a:ext cx="4638675" cy="3635148"/>
          </a:xfrm>
          <a:prstGeom prst="rect">
            <a:avLst/>
          </a:prstGeom>
        </p:spPr>
      </p:pic>
    </p:spTree>
    <p:extLst>
      <p:ext uri="{BB962C8B-B14F-4D97-AF65-F5344CB8AC3E}">
        <p14:creationId xmlns:p14="http://schemas.microsoft.com/office/powerpoint/2010/main" val="959448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8AD51-F583-ADBC-3011-9A54E5185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ED8E9-23AE-FAAE-AC2B-B41FC6B9BB2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7F968FE7-A0CF-3945-221A-E43A7EB3C54E}"/>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B) ONE-WAY MANOVA</a:t>
            </a:r>
          </a:p>
          <a:p>
            <a:r>
              <a:rPr lang="en-US" b="1" dirty="0"/>
              <a:t>Assumptions:</a:t>
            </a:r>
          </a:p>
          <a:p>
            <a:pPr marL="457200" indent="-280988">
              <a:spcBef>
                <a:spcPts val="0"/>
              </a:spcBef>
              <a:buFont typeface="+mj-lt"/>
              <a:buAutoNum type="arabicPeriod"/>
            </a:pPr>
            <a:r>
              <a:rPr lang="en-US" b="1" dirty="0">
                <a:solidFill>
                  <a:schemeClr val="accent1">
                    <a:lumMod val="75000"/>
                  </a:schemeClr>
                </a:solidFill>
              </a:rPr>
              <a:t>Data is Normally Distributed</a:t>
            </a:r>
          </a:p>
          <a:p>
            <a:pPr marL="457200" indent="-280988">
              <a:spcBef>
                <a:spcPts val="0"/>
              </a:spcBef>
              <a:buFont typeface="+mj-lt"/>
              <a:buAutoNum type="arabicPeriod"/>
            </a:pPr>
            <a:r>
              <a:rPr lang="en-US" b="1" dirty="0"/>
              <a:t>Covariance is Homogeneous</a:t>
            </a:r>
          </a:p>
          <a:p>
            <a:pPr marL="457200" indent="-280988">
              <a:spcBef>
                <a:spcPts val="0"/>
              </a:spcBef>
              <a:buFont typeface="+mj-lt"/>
              <a:buAutoNum type="arabicPeriod"/>
            </a:pPr>
            <a:r>
              <a:rPr lang="en-US" b="1" dirty="0"/>
              <a:t>Data is Homogeneous </a:t>
            </a:r>
          </a:p>
          <a:p>
            <a:endParaRPr lang="en-US" dirty="0"/>
          </a:p>
        </p:txBody>
      </p:sp>
      <p:sp>
        <p:nvSpPr>
          <p:cNvPr id="4" name="Content Placeholder 3">
            <a:extLst>
              <a:ext uri="{FF2B5EF4-FFF2-40B4-BE49-F238E27FC236}">
                <a16:creationId xmlns:a16="http://schemas.microsoft.com/office/drawing/2014/main" id="{7BDD8ECE-55D1-BEA9-9220-4BDD390B83AF}"/>
              </a:ext>
            </a:extLst>
          </p:cNvPr>
          <p:cNvSpPr>
            <a:spLocks noGrp="1"/>
          </p:cNvSpPr>
          <p:nvPr>
            <p:ph sz="half" idx="2"/>
          </p:nvPr>
        </p:nvSpPr>
        <p:spPr>
          <a:xfrm>
            <a:off x="1097279" y="4188113"/>
            <a:ext cx="9450647" cy="2064521"/>
          </a:xfrm>
        </p:spPr>
        <p:txBody>
          <a:bodyPr/>
          <a:lstStyle/>
          <a:p>
            <a:r>
              <a:rPr lang="en-US" dirty="0"/>
              <a:t>Hypothesis</a:t>
            </a:r>
            <a:br>
              <a:rPr lang="en-US" dirty="0"/>
            </a:br>
            <a:r>
              <a:rPr lang="en-US" dirty="0"/>
              <a:t>H</a:t>
            </a:r>
            <a:r>
              <a:rPr lang="en-US" sz="1400" dirty="0"/>
              <a:t>0</a:t>
            </a:r>
            <a:r>
              <a:rPr lang="en-US" dirty="0"/>
              <a:t>:</a:t>
            </a:r>
            <a:br>
              <a:rPr lang="en-US" dirty="0"/>
            </a:br>
            <a:r>
              <a:rPr lang="en-US" sz="1600" dirty="0"/>
              <a:t>The data for dependent variables are normally distributed in all 3 groups</a:t>
            </a:r>
            <a:br>
              <a:rPr lang="en-US" sz="1600" dirty="0"/>
            </a:br>
            <a:r>
              <a:rPr lang="en-US" sz="1800" dirty="0"/>
              <a:t>H</a:t>
            </a:r>
            <a:r>
              <a:rPr lang="en-US" sz="1400" dirty="0"/>
              <a:t>a</a:t>
            </a:r>
            <a:r>
              <a:rPr lang="en-US" sz="1600" dirty="0"/>
              <a:t>: </a:t>
            </a:r>
            <a:br>
              <a:rPr lang="en-US" sz="1600" dirty="0"/>
            </a:br>
            <a:r>
              <a:rPr lang="en-US" sz="1600" dirty="0"/>
              <a:t>The data for dependent variables are NOT is normally distributed in at least in ONE group.</a:t>
            </a:r>
          </a:p>
          <a:p>
            <a:r>
              <a:rPr lang="en-US" sz="1600" dirty="0">
                <a:solidFill>
                  <a:srgbClr val="C00000"/>
                </a:solidFill>
              </a:rPr>
              <a:t>All P-Values &gt; 0.05. </a:t>
            </a:r>
            <a:r>
              <a:rPr lang="en-US" sz="1600" b="1" u="sng" dirty="0">
                <a:solidFill>
                  <a:srgbClr val="C00000"/>
                </a:solidFill>
              </a:rPr>
              <a:t>So, we Accept H</a:t>
            </a:r>
            <a:r>
              <a:rPr lang="en-US" sz="1100" b="1" u="sng" dirty="0">
                <a:solidFill>
                  <a:srgbClr val="C00000"/>
                </a:solidFill>
              </a:rPr>
              <a:t>0</a:t>
            </a:r>
            <a:endParaRPr lang="en-US" sz="1600" b="1" u="sng" dirty="0">
              <a:solidFill>
                <a:srgbClr val="C00000"/>
              </a:solidFill>
            </a:endParaRPr>
          </a:p>
        </p:txBody>
      </p:sp>
      <p:pic>
        <p:nvPicPr>
          <p:cNvPr id="6" name="Picture 5">
            <a:extLst>
              <a:ext uri="{FF2B5EF4-FFF2-40B4-BE49-F238E27FC236}">
                <a16:creationId xmlns:a16="http://schemas.microsoft.com/office/drawing/2014/main" id="{2DA4DC28-AED3-1F6F-5DF0-24DD2F3859BF}"/>
              </a:ext>
            </a:extLst>
          </p:cNvPr>
          <p:cNvPicPr>
            <a:picLocks noChangeAspect="1"/>
          </p:cNvPicPr>
          <p:nvPr/>
        </p:nvPicPr>
        <p:blipFill>
          <a:blip r:embed="rId2"/>
          <a:stretch>
            <a:fillRect/>
          </a:stretch>
        </p:blipFill>
        <p:spPr>
          <a:xfrm>
            <a:off x="5161665" y="2128656"/>
            <a:ext cx="6468378" cy="2600688"/>
          </a:xfrm>
          <a:prstGeom prst="rect">
            <a:avLst/>
          </a:prstGeom>
        </p:spPr>
      </p:pic>
    </p:spTree>
    <p:extLst>
      <p:ext uri="{BB962C8B-B14F-4D97-AF65-F5344CB8AC3E}">
        <p14:creationId xmlns:p14="http://schemas.microsoft.com/office/powerpoint/2010/main" val="361173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5460-079D-1621-FE70-3855C6130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E0053-2C8E-363F-04AE-6835EE85D401}"/>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CF19BDDF-C4CC-D55E-CDB0-8019B6D18933}"/>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B) ONE-WAY MANOVA</a:t>
            </a:r>
          </a:p>
          <a:p>
            <a:r>
              <a:rPr lang="en-US" b="1" dirty="0"/>
              <a:t>Assumptions:</a:t>
            </a:r>
          </a:p>
          <a:p>
            <a:pPr marL="457200" indent="-280988">
              <a:spcBef>
                <a:spcPts val="0"/>
              </a:spcBef>
              <a:buFont typeface="+mj-lt"/>
              <a:buAutoNum type="arabicPeriod"/>
            </a:pPr>
            <a:r>
              <a:rPr lang="en-US" b="1" dirty="0"/>
              <a:t>Data is Normally Distributed</a:t>
            </a:r>
          </a:p>
          <a:p>
            <a:pPr marL="457200" indent="-280988">
              <a:spcBef>
                <a:spcPts val="0"/>
              </a:spcBef>
              <a:buFont typeface="+mj-lt"/>
              <a:buAutoNum type="arabicPeriod"/>
            </a:pPr>
            <a:r>
              <a:rPr lang="en-US" b="1" dirty="0">
                <a:solidFill>
                  <a:schemeClr val="accent1">
                    <a:lumMod val="75000"/>
                  </a:schemeClr>
                </a:solidFill>
              </a:rPr>
              <a:t>Covariance is Homogeneous</a:t>
            </a:r>
          </a:p>
          <a:p>
            <a:pPr marL="457200" indent="-280988">
              <a:spcBef>
                <a:spcPts val="0"/>
              </a:spcBef>
              <a:buFont typeface="+mj-lt"/>
              <a:buAutoNum type="arabicPeriod"/>
            </a:pPr>
            <a:r>
              <a:rPr lang="en-US" b="1" dirty="0"/>
              <a:t>Data is Homogeneous </a:t>
            </a:r>
          </a:p>
          <a:p>
            <a:endParaRPr lang="en-US" dirty="0"/>
          </a:p>
        </p:txBody>
      </p:sp>
      <p:sp>
        <p:nvSpPr>
          <p:cNvPr id="4" name="Content Placeholder 3">
            <a:extLst>
              <a:ext uri="{FF2B5EF4-FFF2-40B4-BE49-F238E27FC236}">
                <a16:creationId xmlns:a16="http://schemas.microsoft.com/office/drawing/2014/main" id="{597C62EF-2E09-4E08-777C-79E140897D2E}"/>
              </a:ext>
            </a:extLst>
          </p:cNvPr>
          <p:cNvSpPr>
            <a:spLocks noGrp="1"/>
          </p:cNvSpPr>
          <p:nvPr>
            <p:ph sz="half" idx="2"/>
          </p:nvPr>
        </p:nvSpPr>
        <p:spPr>
          <a:xfrm>
            <a:off x="1097279" y="4188113"/>
            <a:ext cx="9450647" cy="2064521"/>
          </a:xfrm>
        </p:spPr>
        <p:txBody>
          <a:bodyPr>
            <a:normAutofit/>
          </a:bodyPr>
          <a:lstStyle/>
          <a:p>
            <a:r>
              <a:rPr lang="en-US" sz="1800" b="1" dirty="0"/>
              <a:t>Hypothesis</a:t>
            </a:r>
            <a:br>
              <a:rPr lang="en-US" sz="1800" b="1" dirty="0"/>
            </a:br>
            <a:r>
              <a:rPr lang="en-US" sz="1800" b="1" dirty="0"/>
              <a:t>H</a:t>
            </a:r>
            <a:r>
              <a:rPr lang="en-US" sz="1200" b="1" dirty="0"/>
              <a:t>0</a:t>
            </a:r>
            <a:r>
              <a:rPr lang="en-US" sz="1800" b="1" dirty="0"/>
              <a:t>:</a:t>
            </a:r>
            <a:br>
              <a:rPr lang="en-US" sz="1800" b="1" dirty="0"/>
            </a:br>
            <a:r>
              <a:rPr lang="en-US" sz="1400" b="1" dirty="0"/>
              <a:t>Combined DVs Covariance, New = Combined DVs Covariance, Modified = Combined DVs Covariance, Straight</a:t>
            </a:r>
            <a:br>
              <a:rPr lang="en-US" sz="1400" b="1" dirty="0"/>
            </a:br>
            <a:r>
              <a:rPr lang="en-US" sz="1600" b="1" dirty="0"/>
              <a:t>H</a:t>
            </a:r>
            <a:r>
              <a:rPr lang="en-US" sz="1200" b="1" dirty="0"/>
              <a:t>a</a:t>
            </a:r>
            <a:r>
              <a:rPr lang="en-US" sz="1400" b="1" dirty="0"/>
              <a:t>: </a:t>
            </a:r>
            <a:br>
              <a:rPr lang="en-US" sz="1400" b="1" dirty="0"/>
            </a:br>
            <a:r>
              <a:rPr lang="en-US" sz="1400" b="1" dirty="0"/>
              <a:t>At least DVs Covariance of TWO group are NOT Equal.</a:t>
            </a:r>
          </a:p>
          <a:p>
            <a:r>
              <a:rPr lang="en-US" sz="1600" dirty="0">
                <a:solidFill>
                  <a:srgbClr val="C00000"/>
                </a:solidFill>
              </a:rPr>
              <a:t>P-Values &gt; 0.05. So, </a:t>
            </a:r>
            <a:r>
              <a:rPr lang="en-US" sz="1600" b="1" u="sng" dirty="0">
                <a:solidFill>
                  <a:srgbClr val="C00000"/>
                </a:solidFill>
              </a:rPr>
              <a:t>We Accept H</a:t>
            </a:r>
            <a:r>
              <a:rPr lang="en-US" sz="1100" b="1" u="sng" dirty="0">
                <a:solidFill>
                  <a:srgbClr val="C00000"/>
                </a:solidFill>
              </a:rPr>
              <a:t>0</a:t>
            </a:r>
            <a:endParaRPr lang="en-US" sz="1600" b="1" u="sng" dirty="0">
              <a:solidFill>
                <a:srgbClr val="C00000"/>
              </a:solidFill>
            </a:endParaRPr>
          </a:p>
        </p:txBody>
      </p:sp>
      <p:pic>
        <p:nvPicPr>
          <p:cNvPr id="11" name="Picture 10">
            <a:extLst>
              <a:ext uri="{FF2B5EF4-FFF2-40B4-BE49-F238E27FC236}">
                <a16:creationId xmlns:a16="http://schemas.microsoft.com/office/drawing/2014/main" id="{AE45A5EB-D4DB-B1FC-4B7F-214C585FE0B8}"/>
              </a:ext>
            </a:extLst>
          </p:cNvPr>
          <p:cNvPicPr>
            <a:picLocks noChangeAspect="1"/>
          </p:cNvPicPr>
          <p:nvPr/>
        </p:nvPicPr>
        <p:blipFill>
          <a:blip r:embed="rId2"/>
          <a:stretch>
            <a:fillRect/>
          </a:stretch>
        </p:blipFill>
        <p:spPr>
          <a:xfrm>
            <a:off x="9423868" y="2011549"/>
            <a:ext cx="1690247" cy="3424974"/>
          </a:xfrm>
          <a:prstGeom prst="rect">
            <a:avLst/>
          </a:prstGeom>
        </p:spPr>
      </p:pic>
    </p:spTree>
    <p:extLst>
      <p:ext uri="{BB962C8B-B14F-4D97-AF65-F5344CB8AC3E}">
        <p14:creationId xmlns:p14="http://schemas.microsoft.com/office/powerpoint/2010/main" val="918739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0CEBA-EABD-B4E9-1516-EDB285762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C509E-C751-E6BF-8A71-BD47408DD495}"/>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ECF906B4-28C3-688F-4731-8604988744CE}"/>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B) ONE-WAY MANOVA</a:t>
            </a:r>
          </a:p>
          <a:p>
            <a:r>
              <a:rPr lang="en-US" b="1" dirty="0"/>
              <a:t>Assumptions:</a:t>
            </a:r>
          </a:p>
          <a:p>
            <a:pPr marL="457200" indent="-280988">
              <a:spcBef>
                <a:spcPts val="0"/>
              </a:spcBef>
              <a:buFont typeface="+mj-lt"/>
              <a:buAutoNum type="arabicPeriod"/>
            </a:pPr>
            <a:r>
              <a:rPr lang="en-US" b="1" dirty="0"/>
              <a:t>Data is Normally Distributed</a:t>
            </a:r>
          </a:p>
          <a:p>
            <a:pPr marL="457200" indent="-280988">
              <a:spcBef>
                <a:spcPts val="0"/>
              </a:spcBef>
              <a:buFont typeface="+mj-lt"/>
              <a:buAutoNum type="arabicPeriod"/>
            </a:pPr>
            <a:r>
              <a:rPr lang="en-US" b="1" dirty="0"/>
              <a:t>Covariance is Homogeneous</a:t>
            </a:r>
          </a:p>
          <a:p>
            <a:pPr marL="457200" indent="-280988">
              <a:spcBef>
                <a:spcPts val="0"/>
              </a:spcBef>
              <a:buFont typeface="+mj-lt"/>
              <a:buAutoNum type="arabicPeriod"/>
            </a:pPr>
            <a:r>
              <a:rPr lang="en-US" b="1" dirty="0">
                <a:solidFill>
                  <a:schemeClr val="accent1">
                    <a:lumMod val="75000"/>
                  </a:schemeClr>
                </a:solidFill>
              </a:rPr>
              <a:t>Data is Homogeneous </a:t>
            </a:r>
          </a:p>
          <a:p>
            <a:pPr marL="457200" indent="-280988">
              <a:buFont typeface="+mj-lt"/>
              <a:buAutoNum type="arabicPeriod"/>
            </a:pPr>
            <a:endParaRPr lang="en-US" b="1" dirty="0">
              <a:solidFill>
                <a:schemeClr val="accent1">
                  <a:lumMod val="75000"/>
                </a:schemeClr>
              </a:solidFill>
            </a:endParaRPr>
          </a:p>
          <a:p>
            <a:endParaRPr lang="en-US" dirty="0"/>
          </a:p>
        </p:txBody>
      </p:sp>
      <p:sp>
        <p:nvSpPr>
          <p:cNvPr id="4" name="Content Placeholder 3">
            <a:extLst>
              <a:ext uri="{FF2B5EF4-FFF2-40B4-BE49-F238E27FC236}">
                <a16:creationId xmlns:a16="http://schemas.microsoft.com/office/drawing/2014/main" id="{9077444A-7336-CC4A-2DE2-D95EADA02AC7}"/>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a:t>
            </a:r>
            <a:br>
              <a:rPr lang="en-US" dirty="0"/>
            </a:br>
            <a:r>
              <a:rPr lang="en-US" sz="1600" dirty="0"/>
              <a:t>Combined DVs Sig2, New = Combined DVs Sig2, Modified = Combined DVs Sig2, Straight</a:t>
            </a:r>
            <a:br>
              <a:rPr lang="en-US" sz="1600" dirty="0"/>
            </a:br>
            <a:r>
              <a:rPr lang="en-US" sz="1800" dirty="0"/>
              <a:t>H</a:t>
            </a:r>
            <a:r>
              <a:rPr lang="en-US" sz="1400" dirty="0"/>
              <a:t>a</a:t>
            </a:r>
            <a:r>
              <a:rPr lang="en-US" sz="1600" dirty="0"/>
              <a:t>: </a:t>
            </a:r>
            <a:br>
              <a:rPr lang="en-US" sz="1600" dirty="0"/>
            </a:br>
            <a:r>
              <a:rPr lang="en-US" sz="1600" dirty="0"/>
              <a:t>At least Combined DVs Sig2 of TWO group are NOT Equal.</a:t>
            </a:r>
          </a:p>
          <a:p>
            <a:r>
              <a:rPr lang="en-US" sz="1600" dirty="0">
                <a:solidFill>
                  <a:srgbClr val="C00000"/>
                </a:solidFill>
              </a:rPr>
              <a:t>All P-Values &gt; 0.05. So, </a:t>
            </a:r>
            <a:r>
              <a:rPr lang="en-US" sz="1600" b="1" u="sng" dirty="0">
                <a:solidFill>
                  <a:srgbClr val="C00000"/>
                </a:solidFill>
              </a:rPr>
              <a:t>We Accept H</a:t>
            </a:r>
            <a:r>
              <a:rPr lang="en-US" sz="1100" b="1" u="sng" dirty="0">
                <a:solidFill>
                  <a:srgbClr val="C00000"/>
                </a:solidFill>
              </a:rPr>
              <a:t>0</a:t>
            </a:r>
            <a:endParaRPr lang="en-US" sz="1600" b="1" u="sng" dirty="0">
              <a:solidFill>
                <a:srgbClr val="C00000"/>
              </a:solidFill>
            </a:endParaRPr>
          </a:p>
        </p:txBody>
      </p:sp>
      <p:pic>
        <p:nvPicPr>
          <p:cNvPr id="7" name="Picture 6">
            <a:extLst>
              <a:ext uri="{FF2B5EF4-FFF2-40B4-BE49-F238E27FC236}">
                <a16:creationId xmlns:a16="http://schemas.microsoft.com/office/drawing/2014/main" id="{D7E8FD4A-AC17-BE60-25E2-E347F27C31BC}"/>
              </a:ext>
            </a:extLst>
          </p:cNvPr>
          <p:cNvPicPr>
            <a:picLocks noChangeAspect="1"/>
          </p:cNvPicPr>
          <p:nvPr/>
        </p:nvPicPr>
        <p:blipFill>
          <a:blip r:embed="rId2"/>
          <a:stretch>
            <a:fillRect/>
          </a:stretch>
        </p:blipFill>
        <p:spPr>
          <a:xfrm>
            <a:off x="5753126" y="1948973"/>
            <a:ext cx="5515238" cy="2960054"/>
          </a:xfrm>
          <a:prstGeom prst="rect">
            <a:avLst/>
          </a:prstGeom>
        </p:spPr>
      </p:pic>
    </p:spTree>
    <p:extLst>
      <p:ext uri="{BB962C8B-B14F-4D97-AF65-F5344CB8AC3E}">
        <p14:creationId xmlns:p14="http://schemas.microsoft.com/office/powerpoint/2010/main" val="794955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F4A2-866A-652E-3B62-5D2E61AE2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B8108-D966-84CE-DD1F-436EB9412BC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BA2EECB-EFC0-3738-94AE-3A7F54AFCF6B}"/>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B) ONE-WAY MANOVA</a:t>
            </a:r>
          </a:p>
          <a:p>
            <a:r>
              <a:rPr lang="en-US" b="1" dirty="0"/>
              <a:t>Model Test:</a:t>
            </a:r>
          </a:p>
          <a:p>
            <a:pPr marL="0" indent="0">
              <a:buNone/>
            </a:pPr>
            <a:endParaRPr lang="en-US" dirty="0"/>
          </a:p>
        </p:txBody>
      </p:sp>
      <p:sp>
        <p:nvSpPr>
          <p:cNvPr id="4" name="Content Placeholder 3">
            <a:extLst>
              <a:ext uri="{FF2B5EF4-FFF2-40B4-BE49-F238E27FC236}">
                <a16:creationId xmlns:a16="http://schemas.microsoft.com/office/drawing/2014/main" id="{A4C5C4EC-D287-60F0-6483-A9F3FCE4C01D}"/>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a:t>
            </a:r>
            <a:br>
              <a:rPr lang="en-US" dirty="0"/>
            </a:br>
            <a:r>
              <a:rPr lang="en-US" sz="1600" dirty="0"/>
              <a:t>Combined DVs Mu, New = Combined DVs Mu, Modified = Combined DVs Mu, Straight</a:t>
            </a:r>
            <a:br>
              <a:rPr lang="en-US" sz="1600" dirty="0"/>
            </a:br>
            <a:r>
              <a:rPr lang="en-US" sz="1800" dirty="0"/>
              <a:t>H</a:t>
            </a:r>
            <a:r>
              <a:rPr lang="en-US" sz="1400" dirty="0"/>
              <a:t>a</a:t>
            </a:r>
            <a:r>
              <a:rPr lang="en-US" sz="1600" dirty="0"/>
              <a:t>: </a:t>
            </a:r>
            <a:br>
              <a:rPr lang="en-US" sz="1600" dirty="0"/>
            </a:br>
            <a:r>
              <a:rPr lang="en-US" sz="1600" dirty="0"/>
              <a:t>At least TWO Combined DVs Mu are NOT Equal</a:t>
            </a:r>
          </a:p>
          <a:p>
            <a:r>
              <a:rPr lang="en-US" sz="1600" dirty="0">
                <a:solidFill>
                  <a:srgbClr val="C00000"/>
                </a:solidFill>
              </a:rPr>
              <a:t>P-Values for BOTH Wilks' Lambda and Pillai’s &gt; 0.05 So, </a:t>
            </a:r>
            <a:r>
              <a:rPr lang="en-US" sz="1600" b="1" u="sng" dirty="0">
                <a:solidFill>
                  <a:srgbClr val="C00000"/>
                </a:solidFill>
              </a:rPr>
              <a:t>We Accept H</a:t>
            </a:r>
            <a:r>
              <a:rPr lang="en-US" sz="1200" b="1" u="sng" dirty="0">
                <a:solidFill>
                  <a:srgbClr val="C00000"/>
                </a:solidFill>
              </a:rPr>
              <a:t>0</a:t>
            </a:r>
            <a:endParaRPr lang="en-US" sz="1600" b="1" u="sng" dirty="0">
              <a:solidFill>
                <a:srgbClr val="C00000"/>
              </a:solidFill>
            </a:endParaRPr>
          </a:p>
        </p:txBody>
      </p:sp>
      <p:pic>
        <p:nvPicPr>
          <p:cNvPr id="8" name="Picture 7">
            <a:extLst>
              <a:ext uri="{FF2B5EF4-FFF2-40B4-BE49-F238E27FC236}">
                <a16:creationId xmlns:a16="http://schemas.microsoft.com/office/drawing/2014/main" id="{1788E555-BC5A-124E-4787-DAA170E93859}"/>
              </a:ext>
            </a:extLst>
          </p:cNvPr>
          <p:cNvPicPr>
            <a:picLocks noChangeAspect="1"/>
          </p:cNvPicPr>
          <p:nvPr/>
        </p:nvPicPr>
        <p:blipFill>
          <a:blip r:embed="rId2"/>
          <a:stretch>
            <a:fillRect/>
          </a:stretch>
        </p:blipFill>
        <p:spPr>
          <a:xfrm>
            <a:off x="5534475" y="1913153"/>
            <a:ext cx="5560243" cy="2904870"/>
          </a:xfrm>
          <a:prstGeom prst="rect">
            <a:avLst/>
          </a:prstGeom>
        </p:spPr>
      </p:pic>
    </p:spTree>
    <p:extLst>
      <p:ext uri="{BB962C8B-B14F-4D97-AF65-F5344CB8AC3E}">
        <p14:creationId xmlns:p14="http://schemas.microsoft.com/office/powerpoint/2010/main" val="172100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36C2-643E-ED2D-B141-FB50B40AF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CA4F8-7B39-0FAD-6E0E-7324974DAB9B}"/>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332102AF-3BFC-08E8-51EE-8DDE68818F8C}"/>
              </a:ext>
            </a:extLst>
          </p:cNvPr>
          <p:cNvSpPr>
            <a:spLocks noGrp="1"/>
          </p:cNvSpPr>
          <p:nvPr>
            <p:ph sz="half" idx="1"/>
          </p:nvPr>
        </p:nvSpPr>
        <p:spPr>
          <a:xfrm>
            <a:off x="1097281" y="2120900"/>
            <a:ext cx="3985708" cy="2257135"/>
          </a:xfrm>
        </p:spPr>
        <p:txBody>
          <a:bodyPr>
            <a:normAutofit/>
          </a:bodyPr>
          <a:lstStyle/>
          <a:p>
            <a:r>
              <a:rPr lang="en-US" dirty="0">
                <a:solidFill>
                  <a:schemeClr val="accent1">
                    <a:lumMod val="50000"/>
                  </a:schemeClr>
                </a:solidFill>
              </a:rPr>
              <a:t>B) ONE-WAY MANOVA</a:t>
            </a:r>
          </a:p>
          <a:p>
            <a:br>
              <a:rPr lang="en-US" b="1" dirty="0">
                <a:solidFill>
                  <a:srgbClr val="C00000"/>
                </a:solidFill>
              </a:rPr>
            </a:br>
            <a:r>
              <a:rPr lang="en-US" b="1" dirty="0">
                <a:solidFill>
                  <a:srgbClr val="C00000"/>
                </a:solidFill>
              </a:rPr>
              <a:t>NO Need for Post-Hoc Test</a:t>
            </a:r>
            <a:endParaRPr lang="en-US" dirty="0">
              <a:solidFill>
                <a:srgbClr val="C00000"/>
              </a:solidFill>
            </a:endParaRPr>
          </a:p>
        </p:txBody>
      </p:sp>
      <p:pic>
        <p:nvPicPr>
          <p:cNvPr id="8" name="Picture 7">
            <a:extLst>
              <a:ext uri="{FF2B5EF4-FFF2-40B4-BE49-F238E27FC236}">
                <a16:creationId xmlns:a16="http://schemas.microsoft.com/office/drawing/2014/main" id="{7D9BBAE7-5E7D-BAA1-3BE0-F0644A8C4019}"/>
              </a:ext>
            </a:extLst>
          </p:cNvPr>
          <p:cNvPicPr>
            <a:picLocks noChangeAspect="1"/>
          </p:cNvPicPr>
          <p:nvPr/>
        </p:nvPicPr>
        <p:blipFill>
          <a:blip r:embed="rId2"/>
          <a:stretch>
            <a:fillRect/>
          </a:stretch>
        </p:blipFill>
        <p:spPr>
          <a:xfrm>
            <a:off x="4343163" y="2331734"/>
            <a:ext cx="6812517" cy="3622983"/>
          </a:xfrm>
          <a:prstGeom prst="rect">
            <a:avLst/>
          </a:prstGeom>
        </p:spPr>
      </p:pic>
      <p:sp>
        <p:nvSpPr>
          <p:cNvPr id="10" name="Rectangle: Rounded Corners 9">
            <a:extLst>
              <a:ext uri="{FF2B5EF4-FFF2-40B4-BE49-F238E27FC236}">
                <a16:creationId xmlns:a16="http://schemas.microsoft.com/office/drawing/2014/main" id="{58DDEA8E-688E-9919-AAFC-D8476BDBA389}"/>
              </a:ext>
            </a:extLst>
          </p:cNvPr>
          <p:cNvSpPr/>
          <p:nvPr/>
        </p:nvSpPr>
        <p:spPr>
          <a:xfrm>
            <a:off x="8866909" y="3205018"/>
            <a:ext cx="572654" cy="2595418"/>
          </a:xfrm>
          <a:prstGeom prst="roundRect">
            <a:avLst/>
          </a:prstGeom>
          <a:no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556795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4B9EC-774E-083E-58C2-B39F214FF994}"/>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DF75C266-74B2-7A9D-739B-C195119809D5}"/>
              </a:ext>
            </a:extLst>
          </p:cNvPr>
          <p:cNvSpPr>
            <a:spLocks noGrp="1"/>
          </p:cNvSpPr>
          <p:nvPr>
            <p:ph sz="half" idx="1"/>
          </p:nvPr>
        </p:nvSpPr>
        <p:spPr>
          <a:xfrm>
            <a:off x="1097280" y="2120900"/>
            <a:ext cx="10058400" cy="3748193"/>
          </a:xfrm>
        </p:spPr>
        <p:txBody>
          <a:bodyPr>
            <a:normAutofit/>
          </a:bodyPr>
          <a:lstStyle/>
          <a:p>
            <a:pPr lvl="1">
              <a:buFont typeface="Wingdings" panose="05000000000000000000" pitchFamily="2" charset="2"/>
              <a:buChar char="§"/>
            </a:pPr>
            <a:r>
              <a:rPr lang="en-US" sz="2000" b="1" dirty="0"/>
              <a:t>Factor Analysis: (EFA and CFA)</a:t>
            </a:r>
            <a:br>
              <a:rPr lang="en-US" sz="2000" b="1" dirty="0"/>
            </a:br>
            <a:r>
              <a:rPr lang="en-US" sz="2000" dirty="0"/>
              <a:t>Validate if salesforce image and manufacturer image can be combined in a single factor.</a:t>
            </a:r>
            <a:br>
              <a:rPr lang="en-US" sz="2000" dirty="0"/>
            </a:br>
            <a:endParaRPr lang="en-US" sz="2000" dirty="0"/>
          </a:p>
          <a:p>
            <a:pPr lvl="1">
              <a:buFont typeface="Wingdings" panose="05000000000000000000" pitchFamily="2" charset="2"/>
              <a:buChar char="§"/>
            </a:pPr>
            <a:r>
              <a:rPr lang="en-US" sz="2000" b="1" dirty="0"/>
              <a:t>Multiple Regression:</a:t>
            </a:r>
            <a:br>
              <a:rPr lang="en-US" sz="2000" b="1" dirty="0"/>
            </a:br>
            <a:r>
              <a:rPr lang="en-US" sz="2000" dirty="0"/>
              <a:t>Firm size and Usage level with Price perception (Price Level)</a:t>
            </a:r>
            <a:br>
              <a:rPr lang="en-US" sz="2000" dirty="0"/>
            </a:br>
            <a:endParaRPr lang="en-US" sz="2000" dirty="0"/>
          </a:p>
        </p:txBody>
      </p:sp>
    </p:spTree>
    <p:extLst>
      <p:ext uri="{BB962C8B-B14F-4D97-AF65-F5344CB8AC3E}">
        <p14:creationId xmlns:p14="http://schemas.microsoft.com/office/powerpoint/2010/main" val="23305505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9E346-D486-F253-AB8F-70EFAE895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B4EEE-FB55-AE0E-134F-87AB34A0329D}"/>
              </a:ext>
            </a:extLst>
          </p:cNvPr>
          <p:cNvSpPr>
            <a:spLocks noGrp="1"/>
          </p:cNvSpPr>
          <p:nvPr>
            <p:ph type="title"/>
          </p:nvPr>
        </p:nvSpPr>
        <p:spPr>
          <a:xfrm>
            <a:off x="643466" y="786383"/>
            <a:ext cx="3517567" cy="2093975"/>
          </a:xfrm>
        </p:spPr>
        <p:txBody>
          <a:bodyPr anchor="b">
            <a:normAutofit/>
          </a:bodyPr>
          <a:lstStyle/>
          <a:p>
            <a:r>
              <a:rPr lang="en-US" dirty="0"/>
              <a:t>Thank You</a:t>
            </a:r>
          </a:p>
        </p:txBody>
      </p:sp>
      <p:pic>
        <p:nvPicPr>
          <p:cNvPr id="4" name="Picture 3" descr="A close up of a piece of paper with a pencil laying on top">
            <a:extLst>
              <a:ext uri="{FF2B5EF4-FFF2-40B4-BE49-F238E27FC236}">
                <a16:creationId xmlns:a16="http://schemas.microsoft.com/office/drawing/2014/main" id="{6F4BF6D5-E30E-46A8-FAEC-624E3FC5BF7D}"/>
              </a:ext>
            </a:extLst>
          </p:cNvPr>
          <p:cNvPicPr>
            <a:picLocks noChangeAspect="1"/>
          </p:cNvPicPr>
          <p:nvPr/>
        </p:nvPicPr>
        <p:blipFill rotWithShape="1">
          <a:blip r:embed="rId2">
            <a:extLst>
              <a:ext uri="{28A0092B-C50C-407E-A947-70E740481C1C}">
                <a14:useLocalDpi xmlns:a14="http://schemas.microsoft.com/office/drawing/2010/main" val="0"/>
              </a:ext>
            </a:extLst>
          </a:blip>
          <a:srcRect r="37018" b="-1"/>
          <a:stretch>
            <a:fillRect/>
          </a:stretch>
        </p:blipFill>
        <p:spPr>
          <a:xfrm>
            <a:off x="5458984" y="812799"/>
            <a:ext cx="5928344" cy="5294757"/>
          </a:xfrm>
          <a:prstGeom prst="rect">
            <a:avLst/>
          </a:prstGeom>
          <a:noFill/>
        </p:spPr>
      </p:pic>
    </p:spTree>
    <p:extLst>
      <p:ext uri="{BB962C8B-B14F-4D97-AF65-F5344CB8AC3E}">
        <p14:creationId xmlns:p14="http://schemas.microsoft.com/office/powerpoint/2010/main" val="47612994"/>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3.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4.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5.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6.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7.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8.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9.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0.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3.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4.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5.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6.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7.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8.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9.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0.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3EEFF0-FB57-4CB4-8BFC-DF397689E2ED}">
  <ds:schemaRefs>
    <ds:schemaRef ds:uri="http://purl.org/dc/terms/"/>
    <ds:schemaRef ds:uri="http://schemas.microsoft.com/office/infopath/2007/PartnerControls"/>
    <ds:schemaRef ds:uri="http://schemas.microsoft.com/office/2006/documentManagement/types"/>
    <ds:schemaRef ds:uri="71af3243-3dd4-4a8d-8c0d-dd76da1f02a5"/>
    <ds:schemaRef ds:uri="16c05727-aa75-4e4a-9b5f-8a80a1165891"/>
    <ds:schemaRef ds:uri="http://purl.org/dc/elements/1.1/"/>
    <ds:schemaRef ds:uri="http://schemas.openxmlformats.org/package/2006/metadata/core-properties"/>
    <ds:schemaRef ds:uri="230e9df3-be65-4c73-a93b-d1236ebd677e"/>
    <ds:schemaRef ds:uri="http://schemas.microsoft.com/sharepoint/v3"/>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Statistics focus</Template>
  <TotalTime>1055</TotalTime>
  <Words>3144</Words>
  <Application>Microsoft Office PowerPoint</Application>
  <PresentationFormat>Widescreen</PresentationFormat>
  <Paragraphs>405</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Bookman Old Style</vt:lpstr>
      <vt:lpstr>Calibri</vt:lpstr>
      <vt:lpstr>Franklin Gothic Book</vt:lpstr>
      <vt:lpstr>Times New Roman</vt:lpstr>
      <vt:lpstr>Wingdings</vt:lpstr>
      <vt:lpstr>Custom</vt:lpstr>
      <vt:lpstr>Customer Satisfaction Survey Analysis</vt:lpstr>
      <vt:lpstr>(HATCO)  Customer Satisfaction Survey Analysis</vt:lpstr>
      <vt:lpstr>(HATCO)  Customer Satisfaction Survey Analysis</vt:lpstr>
      <vt:lpstr>(HATCO)  Customer Satisfaction Survey Analysis</vt:lpstr>
      <vt:lpstr>(HATCO)  Customer Satisfaction Survey Analysis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Eslam Kamel (Database Administrator)</dc:creator>
  <cp:lastModifiedBy>Eslam Kamel (Database Administrator)</cp:lastModifiedBy>
  <cp:revision>121</cp:revision>
  <cp:lastPrinted>2026-05-22T08:10:10Z</cp:lastPrinted>
  <dcterms:created xsi:type="dcterms:W3CDTF">2026-05-11T15:20:19Z</dcterms:created>
  <dcterms:modified xsi:type="dcterms:W3CDTF">2026-05-22T08:11:28Z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